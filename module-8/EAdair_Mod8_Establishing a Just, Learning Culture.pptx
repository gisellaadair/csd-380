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0B089C2-7EE0-4507-B391-8A40884589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71C7E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9DFCBE-B0C2-4AF1-801F-BFB1AB40587D}"/>
              </a:ext>
            </a:extLst>
          </p:cNvPr>
          <p:cNvSpPr>
            <a:spLocks noGrp="1"/>
          </p:cNvSpPr>
          <p:nvPr/>
        </p:nvSpPr>
        <p:spPr>
          <a:xfrm>
            <a:off x="704850" y="2124075"/>
            <a:ext cx="666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0">
                <a:solidFill>
                  <a:srgbClr val="D7E7F0"/>
                </a:solidFill>
              </a:defRPr>
            </a:pPr>
            <a:r>
              <a:rPr lang="en-US" sz="3200" dirty="0">
                <a:solidFill>
                  <a:schemeClr val="bg1"/>
                </a:solidFill>
              </a:rPr>
              <a:t>WHAT ARE THE BARRIERS OR CHALLENGES TO IMPLEMENTING A JUST CULTURE?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1A723E-8435-4300-A3C8-E5F76ECAA916}"/>
              </a:ext>
            </a:extLst>
          </p:cNvPr>
          <p:cNvSpPr>
            <a:spLocks noGrp="1"/>
          </p:cNvSpPr>
          <p:nvPr/>
        </p:nvSpPr>
        <p:spPr>
          <a:xfrm>
            <a:off x="819150" y="3905250"/>
            <a:ext cx="4953000" cy="28575"/>
          </a:xfrm>
          <a:prstGeom prst="rect">
            <a:avLst/>
          </a:prstGeom>
          <a:solidFill>
            <a:srgbClr val="71C7E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341AF3-1324-4376-A322-333E57EF059A}"/>
              </a:ext>
            </a:extLst>
          </p:cNvPr>
          <p:cNvSpPr>
            <a:spLocks noGrp="1"/>
          </p:cNvSpPr>
          <p:nvPr/>
        </p:nvSpPr>
        <p:spPr>
          <a:xfrm>
            <a:off x="704850" y="4371975"/>
            <a:ext cx="5723382" cy="11620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B9CFDC"/>
                </a:solidFill>
              </a:defRPr>
            </a:pPr>
            <a:r>
              <a:rPr lang="en-US" sz="1600" b="0" dirty="0">
                <a:solidFill>
                  <a:srgbClr val="B9CFDC"/>
                </a:solidFill>
              </a:rPr>
              <a:t>ELVIA GISELLA ADAIR </a:t>
            </a:r>
          </a:p>
          <a:p>
            <a:pPr algn="l">
              <a:defRPr sz="1200" b="0">
                <a:solidFill>
                  <a:srgbClr val="B9CFDC"/>
                </a:solidFill>
              </a:defRPr>
            </a:pPr>
            <a:r>
              <a:rPr lang="en-US" sz="1600" dirty="0">
                <a:solidFill>
                  <a:srgbClr val="B9CFDC"/>
                </a:solidFill>
              </a:rPr>
              <a:t>CSD380 DEVOPS </a:t>
            </a:r>
          </a:p>
          <a:p>
            <a:pPr algn="l">
              <a:defRPr sz="1200" b="0">
                <a:solidFill>
                  <a:srgbClr val="B9CFDC"/>
                </a:solidFill>
              </a:defRPr>
            </a:pPr>
            <a:r>
              <a:rPr lang="en-US" sz="1600" b="0" dirty="0">
                <a:solidFill>
                  <a:srgbClr val="B9CFDC"/>
                </a:solidFill>
              </a:rPr>
              <a:t>CHRISTI</a:t>
            </a:r>
            <a:r>
              <a:rPr lang="en-US" sz="1600" dirty="0">
                <a:solidFill>
                  <a:srgbClr val="B9CFDC"/>
                </a:solidFill>
              </a:rPr>
              <a:t>NE MAZHATA</a:t>
            </a:r>
            <a:endParaRPr sz="1600" b="0" dirty="0">
              <a:solidFill>
                <a:srgbClr val="B9CFDC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0E6A56-76F6-4D6D-89F0-7D60CDF62FDA}"/>
              </a:ext>
            </a:extLst>
          </p:cNvPr>
          <p:cNvSpPr>
            <a:spLocks noGrp="1"/>
          </p:cNvSpPr>
          <p:nvPr/>
        </p:nvSpPr>
        <p:spPr>
          <a:xfrm>
            <a:off x="8382000" y="4286250"/>
            <a:ext cx="438150" cy="666750"/>
          </a:xfrm>
          <a:prstGeom prst="rect">
            <a:avLst/>
          </a:prstGeom>
          <a:solidFill>
            <a:srgbClr val="496578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62F8C9-AD17-4C9E-9895-616E6441D855}"/>
              </a:ext>
            </a:extLst>
          </p:cNvPr>
          <p:cNvSpPr>
            <a:spLocks noGrp="1"/>
          </p:cNvSpPr>
          <p:nvPr/>
        </p:nvSpPr>
        <p:spPr>
          <a:xfrm>
            <a:off x="9048750" y="3790950"/>
            <a:ext cx="438150" cy="1162050"/>
          </a:xfrm>
          <a:prstGeom prst="rect">
            <a:avLst/>
          </a:prstGeom>
          <a:solidFill>
            <a:srgbClr val="54798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F4C7B4-1FD3-4184-9008-1FD232E05C42}"/>
              </a:ext>
            </a:extLst>
          </p:cNvPr>
          <p:cNvSpPr>
            <a:spLocks noGrp="1"/>
          </p:cNvSpPr>
          <p:nvPr/>
        </p:nvSpPr>
        <p:spPr>
          <a:xfrm>
            <a:off x="9715500" y="3200400"/>
            <a:ext cx="438150" cy="17526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375E83-7F7D-40C5-96C3-ABDC8BC3C760}"/>
              </a:ext>
            </a:extLst>
          </p:cNvPr>
          <p:cNvSpPr>
            <a:spLocks noGrp="1"/>
          </p:cNvSpPr>
          <p:nvPr/>
        </p:nvSpPr>
        <p:spPr>
          <a:xfrm>
            <a:off x="10382250" y="2495550"/>
            <a:ext cx="438150" cy="2457450"/>
          </a:xfrm>
          <a:prstGeom prst="rect">
            <a:avLst/>
          </a:prstGeom>
          <a:solidFill>
            <a:srgbClr val="71C7E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400F96-5728-4F9A-85CA-3251C06F8A6F}"/>
              </a:ext>
            </a:extLst>
          </p:cNvPr>
          <p:cNvSpPr>
            <a:spLocks noGrp="1"/>
          </p:cNvSpPr>
          <p:nvPr/>
        </p:nvSpPr>
        <p:spPr>
          <a:xfrm>
            <a:off x="8248650" y="52197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B9CFDC"/>
                </a:solidFill>
              </a:defRPr>
            </a:pPr>
            <a:r>
              <a:rPr sz="900" b="1">
                <a:solidFill>
                  <a:srgbClr val="B9CFDC"/>
                </a:solidFill>
              </a:rPr>
              <a:t>SILENCE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B7C766-A5AE-4C41-A81F-1D2E84D80C79}"/>
              </a:ext>
            </a:extLst>
          </p:cNvPr>
          <p:cNvSpPr>
            <a:spLocks noGrp="1"/>
          </p:cNvSpPr>
          <p:nvPr/>
        </p:nvSpPr>
        <p:spPr>
          <a:xfrm>
            <a:off x="10039350" y="52197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71C7EC"/>
                </a:solidFill>
              </a:defRPr>
            </a:pPr>
            <a:r>
              <a:rPr sz="900" b="1">
                <a:solidFill>
                  <a:srgbClr val="71C7EC"/>
                </a:solidFill>
              </a:rPr>
              <a:t>LEARNING</a:t>
            </a:r>
          </a:p>
        </p:txBody>
      </p:sp>
    </p:spTree>
    <p:extLst>
      <p:ext uri="{BB962C8B-B14F-4D97-AF65-F5344CB8AC3E}">
        <p14:creationId xmlns:p14="http://schemas.microsoft.com/office/powerpoint/2010/main" val="137105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113CA6-1734-4875-B685-A86303BAB66A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1144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A just culture balances learning with accountability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63AFBE-73BA-471F-82D7-DB2A28B410E3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112776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53DF78-D521-4F22-951E-8A32D9B1C5AA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472"/>
                </a:solidFill>
              </a:defRPr>
            </a:pPr>
            <a:r>
              <a:rPr sz="750" b="0">
                <a:solidFill>
                  <a:srgbClr val="5B6472"/>
                </a:solidFill>
              </a:rPr>
              <a:t>Sources: AHRQ PSNet, Culture of Safety (2019); AHRQ CANDOR Module 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4F241-5B41-4955-AC23-02DC8FE4CC50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DC276B-4B99-458C-9DF8-9B59D44F79C7}"/>
              </a:ext>
            </a:extLst>
          </p:cNvPr>
          <p:cNvSpPr>
            <a:spLocks noGrp="1"/>
          </p:cNvSpPr>
          <p:nvPr/>
        </p:nvSpPr>
        <p:spPr>
          <a:xfrm>
            <a:off x="457200" y="145732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324A"/>
                </a:solidFill>
              </a:defRPr>
            </a:pPr>
            <a:r>
              <a:rPr sz="1650" b="1" dirty="0">
                <a:solidFill>
                  <a:srgbClr val="12324A"/>
                </a:solidFill>
              </a:rPr>
              <a:t>The response should follow the behavior</a:t>
            </a:r>
            <a:r>
              <a:rPr lang="en-US" sz="1650" b="1" dirty="0">
                <a:solidFill>
                  <a:srgbClr val="12324A"/>
                </a:solidFill>
              </a:rPr>
              <a:t>, </a:t>
            </a:r>
            <a:r>
              <a:rPr sz="1650" b="1" dirty="0">
                <a:solidFill>
                  <a:srgbClr val="12324A"/>
                </a:solidFill>
              </a:rPr>
              <a:t>not the severity of the outcome.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B6DFEC-FB17-4449-9E62-1AC09B6B26E5}"/>
              </a:ext>
            </a:extLst>
          </p:cNvPr>
          <p:cNvSpPr>
            <a:spLocks noGrp="1"/>
          </p:cNvSpPr>
          <p:nvPr/>
        </p:nvSpPr>
        <p:spPr>
          <a:xfrm>
            <a:off x="457200" y="2152650"/>
            <a:ext cx="3429000" cy="302895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C49E06-299B-4081-84B0-A75CDAF2542C}"/>
              </a:ext>
            </a:extLst>
          </p:cNvPr>
          <p:cNvSpPr>
            <a:spLocks noGrp="1"/>
          </p:cNvSpPr>
          <p:nvPr/>
        </p:nvSpPr>
        <p:spPr>
          <a:xfrm>
            <a:off x="457200" y="2152650"/>
            <a:ext cx="3429000" cy="1143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F03B66-FBE7-4ADD-AA37-C3186D2BFC0E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980B9"/>
                </a:solidFill>
              </a:defRPr>
            </a:pPr>
            <a:r>
              <a:rPr sz="1350" b="1">
                <a:solidFill>
                  <a:srgbClr val="2980B9"/>
                </a:solidFill>
              </a:rPr>
              <a:t>HUMAN ERROR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351B77-AD48-4E67-B2A7-9FEB2AEE05A1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2971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Slip, lapse, or mistake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3953B9-6467-41CD-9312-48958BC46D0D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971800" cy="9525"/>
          </a:xfrm>
          <a:prstGeom prst="rect">
            <a:avLst/>
          </a:prstGeom>
          <a:solidFill>
            <a:srgbClr val="BAC4C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16CE63-2E00-4A0D-A484-38096C29C628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2971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Appropriate response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5DD0A1-243A-4205-9FC0-E99E4E8A6166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2971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Console + redesign the system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5D14E7-B6C4-4E8A-807D-928CC00A1007}"/>
              </a:ext>
            </a:extLst>
          </p:cNvPr>
          <p:cNvSpPr>
            <a:spLocks noGrp="1"/>
          </p:cNvSpPr>
          <p:nvPr/>
        </p:nvSpPr>
        <p:spPr>
          <a:xfrm>
            <a:off x="4210050" y="2152650"/>
            <a:ext cx="3429000" cy="302895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61F466-8621-4EAD-A653-951E6DDA3D1A}"/>
              </a:ext>
            </a:extLst>
          </p:cNvPr>
          <p:cNvSpPr>
            <a:spLocks noGrp="1"/>
          </p:cNvSpPr>
          <p:nvPr/>
        </p:nvSpPr>
        <p:spPr>
          <a:xfrm>
            <a:off x="4210050" y="2152650"/>
            <a:ext cx="3429000" cy="114300"/>
          </a:xfrm>
          <a:prstGeom prst="rect">
            <a:avLst/>
          </a:prstGeom>
          <a:solidFill>
            <a:srgbClr val="E5A63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E5116A-8E77-4F44-AD07-381FCF9B6626}"/>
              </a:ext>
            </a:extLst>
          </p:cNvPr>
          <p:cNvSpPr>
            <a:spLocks noGrp="1"/>
          </p:cNvSpPr>
          <p:nvPr/>
        </p:nvSpPr>
        <p:spPr>
          <a:xfrm>
            <a:off x="4438650" y="245745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E5A63A"/>
                </a:solidFill>
              </a:defRPr>
            </a:pPr>
            <a:r>
              <a:rPr sz="1350" b="1">
                <a:solidFill>
                  <a:srgbClr val="E5A63A"/>
                </a:solidFill>
              </a:rPr>
              <a:t>AT-RISK BEHAVIOR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513544-23B3-4B98-962D-59583D74E3A2}"/>
              </a:ext>
            </a:extLst>
          </p:cNvPr>
          <p:cNvSpPr>
            <a:spLocks noGrp="1"/>
          </p:cNvSpPr>
          <p:nvPr/>
        </p:nvSpPr>
        <p:spPr>
          <a:xfrm>
            <a:off x="4438650" y="2952750"/>
            <a:ext cx="2971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Risk is unseen or normalized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3238E8-E8B6-4337-93FB-C985C4CF29D6}"/>
              </a:ext>
            </a:extLst>
          </p:cNvPr>
          <p:cNvSpPr>
            <a:spLocks noGrp="1"/>
          </p:cNvSpPr>
          <p:nvPr/>
        </p:nvSpPr>
        <p:spPr>
          <a:xfrm>
            <a:off x="4438650" y="3733800"/>
            <a:ext cx="2971800" cy="9525"/>
          </a:xfrm>
          <a:prstGeom prst="rect">
            <a:avLst/>
          </a:prstGeom>
          <a:solidFill>
            <a:srgbClr val="BAC4C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CE9FB0-3A97-4DD9-8A27-9FBBF536DBE4}"/>
              </a:ext>
            </a:extLst>
          </p:cNvPr>
          <p:cNvSpPr>
            <a:spLocks noGrp="1"/>
          </p:cNvSpPr>
          <p:nvPr/>
        </p:nvSpPr>
        <p:spPr>
          <a:xfrm>
            <a:off x="4438650" y="3943350"/>
            <a:ext cx="2971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Appropriate response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B00F36-AE7A-4DDD-A438-B4186E2FB025}"/>
              </a:ext>
            </a:extLst>
          </p:cNvPr>
          <p:cNvSpPr>
            <a:spLocks noGrp="1"/>
          </p:cNvSpPr>
          <p:nvPr/>
        </p:nvSpPr>
        <p:spPr>
          <a:xfrm>
            <a:off x="4438650" y="4248150"/>
            <a:ext cx="2971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Coach + remove incentives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F8715-E002-4686-8B94-5CF7F03C73D1}"/>
              </a:ext>
            </a:extLst>
          </p:cNvPr>
          <p:cNvSpPr>
            <a:spLocks noGrp="1"/>
          </p:cNvSpPr>
          <p:nvPr/>
        </p:nvSpPr>
        <p:spPr>
          <a:xfrm>
            <a:off x="7962900" y="2152650"/>
            <a:ext cx="3429000" cy="302895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5A8466-DC64-4BD9-A605-C7D3B3B6AA2B}"/>
              </a:ext>
            </a:extLst>
          </p:cNvPr>
          <p:cNvSpPr>
            <a:spLocks noGrp="1"/>
          </p:cNvSpPr>
          <p:nvPr/>
        </p:nvSpPr>
        <p:spPr>
          <a:xfrm>
            <a:off x="7962900" y="2152650"/>
            <a:ext cx="3429000" cy="114300"/>
          </a:xfrm>
          <a:prstGeom prst="rect">
            <a:avLst/>
          </a:prstGeom>
          <a:solidFill>
            <a:srgbClr val="C94C4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017684-1EDD-4BE7-BBE6-792561D69704}"/>
              </a:ext>
            </a:extLst>
          </p:cNvPr>
          <p:cNvSpPr>
            <a:spLocks noGrp="1"/>
          </p:cNvSpPr>
          <p:nvPr/>
        </p:nvSpPr>
        <p:spPr>
          <a:xfrm>
            <a:off x="8191500" y="245745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C94C4C"/>
                </a:solidFill>
              </a:defRPr>
            </a:pPr>
            <a:r>
              <a:rPr sz="1350" b="1">
                <a:solidFill>
                  <a:srgbClr val="C94C4C"/>
                </a:solidFill>
              </a:rPr>
              <a:t>RECKLESS BEHAVIOR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0F70CA-2286-41A3-ADFC-926B25E028F4}"/>
              </a:ext>
            </a:extLst>
          </p:cNvPr>
          <p:cNvSpPr>
            <a:spLocks noGrp="1"/>
          </p:cNvSpPr>
          <p:nvPr/>
        </p:nvSpPr>
        <p:spPr>
          <a:xfrm>
            <a:off x="8191500" y="2952750"/>
            <a:ext cx="2971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Conscious disregard of major risk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24E837-C669-4C8F-90D2-D1736DCC1FC7}"/>
              </a:ext>
            </a:extLst>
          </p:cNvPr>
          <p:cNvSpPr>
            <a:spLocks noGrp="1"/>
          </p:cNvSpPr>
          <p:nvPr/>
        </p:nvSpPr>
        <p:spPr>
          <a:xfrm>
            <a:off x="8191500" y="3733800"/>
            <a:ext cx="2971800" cy="9525"/>
          </a:xfrm>
          <a:prstGeom prst="rect">
            <a:avLst/>
          </a:prstGeom>
          <a:solidFill>
            <a:srgbClr val="BAC4C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E6B132-5C39-45B9-9A28-3C2A680AFF51}"/>
              </a:ext>
            </a:extLst>
          </p:cNvPr>
          <p:cNvSpPr>
            <a:spLocks noGrp="1"/>
          </p:cNvSpPr>
          <p:nvPr/>
        </p:nvSpPr>
        <p:spPr>
          <a:xfrm>
            <a:off x="8191500" y="3943350"/>
            <a:ext cx="2971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Appropriate response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294B89-958C-44A2-B4B5-C4B6D08E2CFD}"/>
              </a:ext>
            </a:extLst>
          </p:cNvPr>
          <p:cNvSpPr>
            <a:spLocks noGrp="1"/>
          </p:cNvSpPr>
          <p:nvPr/>
        </p:nvSpPr>
        <p:spPr>
          <a:xfrm>
            <a:off x="8191500" y="4248150"/>
            <a:ext cx="2971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Apply fair corrective action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18A91E-0FD7-4AAF-B4B2-C4B08DFD62F8}"/>
              </a:ext>
            </a:extLst>
          </p:cNvPr>
          <p:cNvSpPr>
            <a:spLocks noGrp="1"/>
          </p:cNvSpPr>
          <p:nvPr/>
        </p:nvSpPr>
        <p:spPr>
          <a:xfrm>
            <a:off x="457200" y="5495925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2324A"/>
                </a:solidFill>
              </a:defRPr>
            </a:pPr>
            <a:r>
              <a:rPr sz="1575" b="1">
                <a:solidFill>
                  <a:srgbClr val="12324A"/>
                </a:solidFill>
              </a:rPr>
              <a:t>“Just” does not mean “no accountability.” It means consistent, proportionate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2010034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540FA3-0F33-4BDD-990C-AA74B55738CE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1144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Seven barriers reinforce one another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AA195A-2886-43C3-891D-A35153CAFAF9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112776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2EE540-9098-47FE-BF01-249D01806891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472"/>
                </a:solidFill>
              </a:defRPr>
            </a:pPr>
            <a:r>
              <a:rPr sz="750" b="0">
                <a:solidFill>
                  <a:srgbClr val="5B6472"/>
                </a:solidFill>
              </a:rPr>
              <a:t>Synthesis based on Murray et al. (2023), van Marum et al. (2022), AHRQ PSNet, and NHS England.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45054D-7BAF-4880-A482-0473586D907D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DE42BB-D77C-4652-8633-F7BEEAE6D026}"/>
              </a:ext>
            </a:extLst>
          </p:cNvPr>
          <p:cNvSpPr>
            <a:spLocks noGrp="1"/>
          </p:cNvSpPr>
          <p:nvPr/>
        </p:nvSpPr>
        <p:spPr>
          <a:xfrm>
            <a:off x="4857750" y="3048000"/>
            <a:ext cx="2476500" cy="1428750"/>
          </a:xfrm>
          <a:prstGeom prst="roundRect">
            <a:avLst>
              <a:gd name="adj" fmla="val 8000"/>
            </a:avLst>
          </a:prstGeom>
          <a:solidFill>
            <a:srgbClr val="12324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A6DFAB-52BA-4D8D-8FAD-89C15EED8CDA}"/>
              </a:ext>
            </a:extLst>
          </p:cNvPr>
          <p:cNvSpPr>
            <a:spLocks noGrp="1"/>
          </p:cNvSpPr>
          <p:nvPr/>
        </p:nvSpPr>
        <p:spPr>
          <a:xfrm>
            <a:off x="5143500" y="3286125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LOW TRUST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F64975-E735-4FCF-AFD0-2FAEB8F80464}"/>
              </a:ext>
            </a:extLst>
          </p:cNvPr>
          <p:cNvSpPr>
            <a:spLocks noGrp="1"/>
          </p:cNvSpPr>
          <p:nvPr/>
        </p:nvSpPr>
        <p:spPr>
          <a:xfrm>
            <a:off x="5143500" y="3705225"/>
            <a:ext cx="1905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71C7EC"/>
                </a:solidFill>
              </a:defRPr>
            </a:pPr>
            <a:r>
              <a:rPr sz="1350" b="1">
                <a:solidFill>
                  <a:srgbClr val="71C7EC"/>
                </a:solidFill>
              </a:rPr>
              <a:t>Less reporting</a:t>
            </a:r>
          </a:p>
          <a:p>
            <a:pPr algn="ctr">
              <a:defRPr sz="1350" b="1">
                <a:solidFill>
                  <a:srgbClr val="71C7EC"/>
                </a:solidFill>
              </a:defRPr>
            </a:pPr>
            <a:r>
              <a:rPr sz="1350" b="1">
                <a:solidFill>
                  <a:srgbClr val="71C7EC"/>
                </a:solidFill>
              </a:rPr>
              <a:t>Less learning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106B5E-DF1A-4598-BBD4-CC12C7D42F64}"/>
              </a:ext>
            </a:extLst>
          </p:cNvPr>
          <p:cNvSpPr>
            <a:spLocks noGrp="1"/>
          </p:cNvSpPr>
          <p:nvPr/>
        </p:nvSpPr>
        <p:spPr>
          <a:xfrm>
            <a:off x="1790700" y="2962275"/>
            <a:ext cx="1619250" cy="647700"/>
          </a:xfrm>
          <a:prstGeom prst="roundRect">
            <a:avLst>
              <a:gd name="adj" fmla="val 17647"/>
            </a:avLst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593D85-569A-4A10-93C9-E3C561517024}"/>
              </a:ext>
            </a:extLst>
          </p:cNvPr>
          <p:cNvSpPr>
            <a:spLocks noGrp="1"/>
          </p:cNvSpPr>
          <p:nvPr/>
        </p:nvSpPr>
        <p:spPr>
          <a:xfrm>
            <a:off x="1780794" y="2964180"/>
            <a:ext cx="76200" cy="647700"/>
          </a:xfrm>
          <a:prstGeom prst="rect">
            <a:avLst/>
          </a:prstGeom>
          <a:solidFill>
            <a:srgbClr val="C94C4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37873C-BE32-4D3A-A843-B9CFD3685B9B}"/>
              </a:ext>
            </a:extLst>
          </p:cNvPr>
          <p:cNvSpPr>
            <a:spLocks noGrp="1"/>
          </p:cNvSpPr>
          <p:nvPr/>
        </p:nvSpPr>
        <p:spPr>
          <a:xfrm>
            <a:off x="1952244" y="3059430"/>
            <a:ext cx="133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 dirty="0">
                <a:solidFill>
                  <a:srgbClr val="111827"/>
                </a:solidFill>
              </a:rPr>
              <a:t>Fear of blame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8AB86E-C933-48D5-9130-C1D8E17EA49E}"/>
              </a:ext>
            </a:extLst>
          </p:cNvPr>
          <p:cNvSpPr>
            <a:spLocks noGrp="1"/>
          </p:cNvSpPr>
          <p:nvPr/>
        </p:nvSpPr>
        <p:spPr>
          <a:xfrm>
            <a:off x="3714750" y="1952625"/>
            <a:ext cx="1619250" cy="647700"/>
          </a:xfrm>
          <a:prstGeom prst="roundRect">
            <a:avLst>
              <a:gd name="adj" fmla="val 17647"/>
            </a:avLst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02B2CD-A1FD-40F0-A7E1-603D54F260CF}"/>
              </a:ext>
            </a:extLst>
          </p:cNvPr>
          <p:cNvSpPr>
            <a:spLocks noGrp="1"/>
          </p:cNvSpPr>
          <p:nvPr/>
        </p:nvSpPr>
        <p:spPr>
          <a:xfrm>
            <a:off x="3714750" y="1952625"/>
            <a:ext cx="76200" cy="6477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7D756E-E562-4265-9B5F-D431A550D129}"/>
              </a:ext>
            </a:extLst>
          </p:cNvPr>
          <p:cNvSpPr>
            <a:spLocks noGrp="1"/>
          </p:cNvSpPr>
          <p:nvPr/>
        </p:nvSpPr>
        <p:spPr>
          <a:xfrm>
            <a:off x="3886200" y="2047875"/>
            <a:ext cx="133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Weak leadership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95CC60E-874F-4E05-8AC6-7EB201DFC281}"/>
              </a:ext>
            </a:extLst>
          </p:cNvPr>
          <p:cNvSpPr>
            <a:spLocks noGrp="1"/>
          </p:cNvSpPr>
          <p:nvPr/>
        </p:nvSpPr>
        <p:spPr>
          <a:xfrm>
            <a:off x="6858002" y="1971675"/>
            <a:ext cx="1619250" cy="647700"/>
          </a:xfrm>
          <a:prstGeom prst="roundRect">
            <a:avLst>
              <a:gd name="adj" fmla="val 17647"/>
            </a:avLst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E0767B-E1C0-4EC2-8B9F-F4C80D95CC3A}"/>
              </a:ext>
            </a:extLst>
          </p:cNvPr>
          <p:cNvSpPr>
            <a:spLocks noGrp="1"/>
          </p:cNvSpPr>
          <p:nvPr/>
        </p:nvSpPr>
        <p:spPr>
          <a:xfrm>
            <a:off x="6858002" y="1971675"/>
            <a:ext cx="76200" cy="647700"/>
          </a:xfrm>
          <a:prstGeom prst="rect">
            <a:avLst/>
          </a:prstGeom>
          <a:solidFill>
            <a:srgbClr val="E5A63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448A24-0E1C-40E6-BD25-69A5621DDF75}"/>
              </a:ext>
            </a:extLst>
          </p:cNvPr>
          <p:cNvSpPr>
            <a:spLocks noGrp="1"/>
          </p:cNvSpPr>
          <p:nvPr/>
        </p:nvSpPr>
        <p:spPr>
          <a:xfrm>
            <a:off x="7029452" y="2066925"/>
            <a:ext cx="133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Inconsistent decisions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1E0EADF-1F38-436E-BA05-2C4912DF9A6C}"/>
              </a:ext>
            </a:extLst>
          </p:cNvPr>
          <p:cNvSpPr>
            <a:spLocks noGrp="1"/>
          </p:cNvSpPr>
          <p:nvPr/>
        </p:nvSpPr>
        <p:spPr>
          <a:xfrm>
            <a:off x="9048750" y="2976562"/>
            <a:ext cx="1619250" cy="647700"/>
          </a:xfrm>
          <a:prstGeom prst="roundRect">
            <a:avLst>
              <a:gd name="adj" fmla="val 17647"/>
            </a:avLst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9062F7-5558-4F55-BC6E-7B6264E19CBC}"/>
              </a:ext>
            </a:extLst>
          </p:cNvPr>
          <p:cNvSpPr>
            <a:spLocks noGrp="1"/>
          </p:cNvSpPr>
          <p:nvPr/>
        </p:nvSpPr>
        <p:spPr>
          <a:xfrm>
            <a:off x="9048750" y="2976562"/>
            <a:ext cx="76200" cy="647700"/>
          </a:xfrm>
          <a:prstGeom prst="rect">
            <a:avLst/>
          </a:prstGeom>
          <a:solidFill>
            <a:srgbClr val="C94C4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FAF24D-0097-402C-A6C7-4CB1E4B70E39}"/>
              </a:ext>
            </a:extLst>
          </p:cNvPr>
          <p:cNvSpPr>
            <a:spLocks noGrp="1"/>
          </p:cNvSpPr>
          <p:nvPr/>
        </p:nvSpPr>
        <p:spPr>
          <a:xfrm>
            <a:off x="9220200" y="3071812"/>
            <a:ext cx="133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Legacy policies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73AD257-E8C9-4CB2-9644-819F00B3F74D}"/>
              </a:ext>
            </a:extLst>
          </p:cNvPr>
          <p:cNvSpPr>
            <a:spLocks noGrp="1"/>
          </p:cNvSpPr>
          <p:nvPr/>
        </p:nvSpPr>
        <p:spPr>
          <a:xfrm>
            <a:off x="2171700" y="4341876"/>
            <a:ext cx="1619250" cy="647700"/>
          </a:xfrm>
          <a:prstGeom prst="roundRect">
            <a:avLst>
              <a:gd name="adj" fmla="val 17647"/>
            </a:avLst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5B1A6A-578B-4050-ABE8-5936CBD7AE65}"/>
              </a:ext>
            </a:extLst>
          </p:cNvPr>
          <p:cNvSpPr>
            <a:spLocks noGrp="1"/>
          </p:cNvSpPr>
          <p:nvPr/>
        </p:nvSpPr>
        <p:spPr>
          <a:xfrm>
            <a:off x="2171700" y="4341876"/>
            <a:ext cx="76200" cy="6477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8370EE-348B-4E22-972E-7E602DEE9A0D}"/>
              </a:ext>
            </a:extLst>
          </p:cNvPr>
          <p:cNvSpPr>
            <a:spLocks noGrp="1"/>
          </p:cNvSpPr>
          <p:nvPr/>
        </p:nvSpPr>
        <p:spPr>
          <a:xfrm>
            <a:off x="2343150" y="4437126"/>
            <a:ext cx="133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Rigid hierarchy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2D4F5A9-46FD-4D94-B690-FDE72A0519D2}"/>
              </a:ext>
            </a:extLst>
          </p:cNvPr>
          <p:cNvSpPr>
            <a:spLocks noGrp="1"/>
          </p:cNvSpPr>
          <p:nvPr/>
        </p:nvSpPr>
        <p:spPr>
          <a:xfrm>
            <a:off x="4857750" y="4894326"/>
            <a:ext cx="1619250" cy="647700"/>
          </a:xfrm>
          <a:prstGeom prst="roundRect">
            <a:avLst>
              <a:gd name="adj" fmla="val 17647"/>
            </a:avLst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CFF22D-C8C8-4ED2-B15E-D441DC5BF7B4}"/>
              </a:ext>
            </a:extLst>
          </p:cNvPr>
          <p:cNvSpPr>
            <a:spLocks noGrp="1"/>
          </p:cNvSpPr>
          <p:nvPr/>
        </p:nvSpPr>
        <p:spPr>
          <a:xfrm>
            <a:off x="4857750" y="4894326"/>
            <a:ext cx="76200" cy="647700"/>
          </a:xfrm>
          <a:prstGeom prst="rect">
            <a:avLst/>
          </a:prstGeom>
          <a:solidFill>
            <a:srgbClr val="E5A63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51F252-F913-4A63-9E16-9731E11595B2}"/>
              </a:ext>
            </a:extLst>
          </p:cNvPr>
          <p:cNvSpPr>
            <a:spLocks noGrp="1"/>
          </p:cNvSpPr>
          <p:nvPr/>
        </p:nvSpPr>
        <p:spPr>
          <a:xfrm>
            <a:off x="5029200" y="4989576"/>
            <a:ext cx="133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Time &amp; staffing pressure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A8E8883-8510-4E7F-A6E1-A05781CD8D74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1619250" cy="647700"/>
          </a:xfrm>
          <a:prstGeom prst="roundRect">
            <a:avLst>
              <a:gd name="adj" fmla="val 17647"/>
            </a:avLst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7862AB-ED12-4616-8ADF-721F28F0DD2C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76200" cy="647700"/>
          </a:xfrm>
          <a:prstGeom prst="rect">
            <a:avLst/>
          </a:prstGeom>
          <a:solidFill>
            <a:srgbClr val="2F8F6B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1C7EEF-32F4-45DC-B429-FF669F257288}"/>
              </a:ext>
            </a:extLst>
          </p:cNvPr>
          <p:cNvSpPr>
            <a:spLocks noGrp="1"/>
          </p:cNvSpPr>
          <p:nvPr/>
        </p:nvSpPr>
        <p:spPr>
          <a:xfrm>
            <a:off x="8648700" y="4857750"/>
            <a:ext cx="133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Weak feedback loops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57CC23-4743-4F51-9A3C-8F88EEC6270A}"/>
              </a:ext>
            </a:extLst>
          </p:cNvPr>
          <p:cNvSpPr>
            <a:spLocks noGrp="1"/>
          </p:cNvSpPr>
          <p:nvPr/>
        </p:nvSpPr>
        <p:spPr>
          <a:xfrm>
            <a:off x="1381125" y="5667375"/>
            <a:ext cx="942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324A"/>
                </a:solidFill>
              </a:defRPr>
            </a:pPr>
            <a:r>
              <a:rPr sz="1350" b="1">
                <a:solidFill>
                  <a:srgbClr val="12324A"/>
                </a:solidFill>
              </a:rPr>
              <a:t>The cycle: fear suppresses reporting; missing data weakens learning; weak learning preserves fear.</a:t>
            </a:r>
          </a:p>
        </p:txBody>
      </p:sp>
    </p:spTree>
    <p:extLst>
      <p:ext uri="{BB962C8B-B14F-4D97-AF65-F5344CB8AC3E}">
        <p14:creationId xmlns:p14="http://schemas.microsoft.com/office/powerpoint/2010/main" val="134961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4369C6-C194-4C4D-9C89-B234AC00B9D8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1144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Fear and mistrust silence the information leaders need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D31045-7C9F-4C71-B6E0-F7B500BE4C9B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112776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1F13D1-CDA7-45EB-BA8D-00B30074754A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472"/>
                </a:solidFill>
              </a:defRPr>
            </a:pPr>
            <a:r>
              <a:rPr sz="750" b="0">
                <a:solidFill>
                  <a:srgbClr val="5B6472"/>
                </a:solidFill>
              </a:rPr>
              <a:t>Source: van Marum, Verhoeven &amp; de Rooy (2022), J Patient Safety, doi:10.1097/PTS.0000000000001012.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C66B64-BAEA-4D30-BF7B-79B4117AB573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C646A8-539E-4542-A84B-3E22FC872EA9}"/>
              </a:ext>
            </a:extLst>
          </p:cNvPr>
          <p:cNvSpPr>
            <a:spLocks noGrp="1"/>
          </p:cNvSpPr>
          <p:nvPr/>
        </p:nvSpPr>
        <p:spPr>
          <a:xfrm>
            <a:off x="457200" y="1533525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Employees ask one question before reporting: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FF5447-3DE3-44F5-8EC1-50AB49FB238D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5429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2324A"/>
                </a:solidFill>
              </a:defRPr>
            </a:pPr>
            <a:r>
              <a:rPr sz="2850" b="1">
                <a:solidFill>
                  <a:srgbClr val="12324A"/>
                </a:solidFill>
              </a:rPr>
              <a:t>“What will happen to me?”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86B3A9-C8E8-40C3-AE4D-2726C8502E82}"/>
              </a:ext>
            </a:extLst>
          </p:cNvPr>
          <p:cNvSpPr>
            <a:spLocks noGrp="1"/>
          </p:cNvSpPr>
          <p:nvPr/>
        </p:nvSpPr>
        <p:spPr>
          <a:xfrm>
            <a:off x="6429375" y="1581150"/>
            <a:ext cx="4857750" cy="314325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1F4D1EC-CF2E-4514-98CB-6A55E3735A79}"/>
              </a:ext>
            </a:extLst>
          </p:cNvPr>
          <p:cNvSpPr>
            <a:spLocks noGrp="1"/>
          </p:cNvSpPr>
          <p:nvPr/>
        </p:nvSpPr>
        <p:spPr>
          <a:xfrm>
            <a:off x="6762750" y="1857375"/>
            <a:ext cx="3714750" cy="42862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BAC4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E84B1D-D483-4E9C-B789-4F42A44813CC}"/>
              </a:ext>
            </a:extLst>
          </p:cNvPr>
          <p:cNvSpPr>
            <a:spLocks noGrp="1"/>
          </p:cNvSpPr>
          <p:nvPr/>
        </p:nvSpPr>
        <p:spPr>
          <a:xfrm>
            <a:off x="6762750" y="1857375"/>
            <a:ext cx="95250" cy="428625"/>
          </a:xfrm>
          <a:prstGeom prst="rect">
            <a:avLst/>
          </a:prstGeom>
          <a:solidFill>
            <a:srgbClr val="C94C4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9239B8-3C11-457B-9D75-3DEF4CCF0B78}"/>
              </a:ext>
            </a:extLst>
          </p:cNvPr>
          <p:cNvSpPr>
            <a:spLocks noGrp="1"/>
          </p:cNvSpPr>
          <p:nvPr/>
        </p:nvSpPr>
        <p:spPr>
          <a:xfrm>
            <a:off x="7000875" y="19050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Fear of blame or shame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5E863B-C492-4204-B81F-168325895EB1}"/>
              </a:ext>
            </a:extLst>
          </p:cNvPr>
          <p:cNvSpPr>
            <a:spLocks noGrp="1"/>
          </p:cNvSpPr>
          <p:nvPr/>
        </p:nvSpPr>
        <p:spPr>
          <a:xfrm>
            <a:off x="10572750" y="22098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5B6472"/>
                </a:solidFill>
              </a:defRPr>
            </a:pPr>
            <a:r>
              <a:rPr sz="1575" b="1" dirty="0">
                <a:solidFill>
                  <a:srgbClr val="5B6472"/>
                </a:solidFill>
              </a:rPr>
              <a:t>↓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D63D88-68A9-417F-8F7D-7E50F5FEBA72}"/>
              </a:ext>
            </a:extLst>
          </p:cNvPr>
          <p:cNvSpPr>
            <a:spLocks noGrp="1"/>
          </p:cNvSpPr>
          <p:nvPr/>
        </p:nvSpPr>
        <p:spPr>
          <a:xfrm>
            <a:off x="6762750" y="2505075"/>
            <a:ext cx="3714750" cy="42862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BAC4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1762F6-1B2E-4B6A-8269-371A1B3D1AD1}"/>
              </a:ext>
            </a:extLst>
          </p:cNvPr>
          <p:cNvSpPr>
            <a:spLocks noGrp="1"/>
          </p:cNvSpPr>
          <p:nvPr/>
        </p:nvSpPr>
        <p:spPr>
          <a:xfrm>
            <a:off x="6762750" y="2505075"/>
            <a:ext cx="95250" cy="428625"/>
          </a:xfrm>
          <a:prstGeom prst="rect">
            <a:avLst/>
          </a:prstGeom>
          <a:solidFill>
            <a:srgbClr val="E5A63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119B6C-D2F6-4C2A-A676-8FA68CB36A2B}"/>
              </a:ext>
            </a:extLst>
          </p:cNvPr>
          <p:cNvSpPr>
            <a:spLocks noGrp="1"/>
          </p:cNvSpPr>
          <p:nvPr/>
        </p:nvSpPr>
        <p:spPr>
          <a:xfrm>
            <a:off x="7000875" y="25527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Underreporting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D969A5-F2D9-49EA-AF10-2A3A88BE419B}"/>
              </a:ext>
            </a:extLst>
          </p:cNvPr>
          <p:cNvSpPr>
            <a:spLocks noGrp="1"/>
          </p:cNvSpPr>
          <p:nvPr/>
        </p:nvSpPr>
        <p:spPr>
          <a:xfrm>
            <a:off x="10572750" y="28575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5B6472"/>
                </a:solidFill>
              </a:defRPr>
            </a:pPr>
            <a:r>
              <a:rPr sz="1575" b="1">
                <a:solidFill>
                  <a:srgbClr val="5B6472"/>
                </a:solidFill>
              </a:rPr>
              <a:t>↓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043FBB8-C059-4D24-819B-D1EEC236582B}"/>
              </a:ext>
            </a:extLst>
          </p:cNvPr>
          <p:cNvSpPr>
            <a:spLocks noGrp="1"/>
          </p:cNvSpPr>
          <p:nvPr/>
        </p:nvSpPr>
        <p:spPr>
          <a:xfrm>
            <a:off x="6762750" y="3152775"/>
            <a:ext cx="3714750" cy="42862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BAC4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D68FEB-5589-4DA8-9A9F-8AFFF5D6A40D}"/>
              </a:ext>
            </a:extLst>
          </p:cNvPr>
          <p:cNvSpPr>
            <a:spLocks noGrp="1"/>
          </p:cNvSpPr>
          <p:nvPr/>
        </p:nvSpPr>
        <p:spPr>
          <a:xfrm>
            <a:off x="6762750" y="3152775"/>
            <a:ext cx="95250" cy="428625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CD4988-9266-4A04-878F-3E3B554599DE}"/>
              </a:ext>
            </a:extLst>
          </p:cNvPr>
          <p:cNvSpPr>
            <a:spLocks noGrp="1"/>
          </p:cNvSpPr>
          <p:nvPr/>
        </p:nvSpPr>
        <p:spPr>
          <a:xfrm>
            <a:off x="7000875" y="32004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Incomplete risk picture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876343-64F4-41F9-8989-20AB7DFDE4B8}"/>
              </a:ext>
            </a:extLst>
          </p:cNvPr>
          <p:cNvSpPr>
            <a:spLocks noGrp="1"/>
          </p:cNvSpPr>
          <p:nvPr/>
        </p:nvSpPr>
        <p:spPr>
          <a:xfrm>
            <a:off x="10572750" y="35052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5B6472"/>
                </a:solidFill>
              </a:defRPr>
            </a:pPr>
            <a:r>
              <a:rPr sz="1575" b="1">
                <a:solidFill>
                  <a:srgbClr val="5B6472"/>
                </a:solidFill>
              </a:rPr>
              <a:t>↓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B1443A5-62C9-47BD-839C-4A15B4C36027}"/>
              </a:ext>
            </a:extLst>
          </p:cNvPr>
          <p:cNvSpPr>
            <a:spLocks noGrp="1"/>
          </p:cNvSpPr>
          <p:nvPr/>
        </p:nvSpPr>
        <p:spPr>
          <a:xfrm>
            <a:off x="6762750" y="3800475"/>
            <a:ext cx="3714750" cy="42862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BAC4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61BAFB-C068-4261-ADF8-7B68C4558D03}"/>
              </a:ext>
            </a:extLst>
          </p:cNvPr>
          <p:cNvSpPr>
            <a:spLocks noGrp="1"/>
          </p:cNvSpPr>
          <p:nvPr/>
        </p:nvSpPr>
        <p:spPr>
          <a:xfrm>
            <a:off x="6762750" y="3800475"/>
            <a:ext cx="95250" cy="428625"/>
          </a:xfrm>
          <a:prstGeom prst="rect">
            <a:avLst/>
          </a:prstGeom>
          <a:solidFill>
            <a:srgbClr val="C94C4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25DDFE-D655-4FF2-A6FD-70D37A3FDAB9}"/>
              </a:ext>
            </a:extLst>
          </p:cNvPr>
          <p:cNvSpPr>
            <a:spLocks noGrp="1"/>
          </p:cNvSpPr>
          <p:nvPr/>
        </p:nvSpPr>
        <p:spPr>
          <a:xfrm>
            <a:off x="7000875" y="38481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Repeated failures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A08E57-DF0C-42B7-A768-3D99DA4F88CC}"/>
              </a:ext>
            </a:extLst>
          </p:cNvPr>
          <p:cNvSpPr>
            <a:spLocks noGrp="1"/>
          </p:cNvSpPr>
          <p:nvPr/>
        </p:nvSpPr>
        <p:spPr>
          <a:xfrm>
            <a:off x="457200" y="3286125"/>
            <a:ext cx="66675" cy="876300"/>
          </a:xfrm>
          <a:prstGeom prst="rect">
            <a:avLst/>
          </a:prstGeom>
          <a:solidFill>
            <a:srgbClr val="C94C4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F7CB04-2D6E-49EA-B4CE-F4F5DBA0F52B}"/>
              </a:ext>
            </a:extLst>
          </p:cNvPr>
          <p:cNvSpPr>
            <a:spLocks noGrp="1"/>
          </p:cNvSpPr>
          <p:nvPr/>
        </p:nvSpPr>
        <p:spPr>
          <a:xfrm>
            <a:off x="666750" y="3286125"/>
            <a:ext cx="49815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Past punishment becomes organizational memory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5EA035-98FF-412E-81A6-B32F99799BD2}"/>
              </a:ext>
            </a:extLst>
          </p:cNvPr>
          <p:cNvSpPr>
            <a:spLocks noGrp="1"/>
          </p:cNvSpPr>
          <p:nvPr/>
        </p:nvSpPr>
        <p:spPr>
          <a:xfrm>
            <a:off x="666750" y="3581400"/>
            <a:ext cx="498157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One inconsistent or public disciplinary response can outweigh many leadership messages about safety.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DB7D7C-B6E4-4BED-A3D8-486FA23D3792}"/>
              </a:ext>
            </a:extLst>
          </p:cNvPr>
          <p:cNvSpPr>
            <a:spLocks noGrp="1"/>
          </p:cNvSpPr>
          <p:nvPr/>
        </p:nvSpPr>
        <p:spPr>
          <a:xfrm>
            <a:off x="457200" y="4495800"/>
            <a:ext cx="66675" cy="8763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F0363B-9A1D-41B2-AB38-2D7D9A558D30}"/>
              </a:ext>
            </a:extLst>
          </p:cNvPr>
          <p:cNvSpPr>
            <a:spLocks noGrp="1"/>
          </p:cNvSpPr>
          <p:nvPr/>
        </p:nvSpPr>
        <p:spPr>
          <a:xfrm>
            <a:off x="666750" y="4495800"/>
            <a:ext cx="49815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Psychological safety varies locally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331A08-35EC-4C00-87DE-2DB8E934E049}"/>
              </a:ext>
            </a:extLst>
          </p:cNvPr>
          <p:cNvSpPr>
            <a:spLocks noGrp="1"/>
          </p:cNvSpPr>
          <p:nvPr/>
        </p:nvSpPr>
        <p:spPr>
          <a:xfrm>
            <a:off x="666750" y="4791075"/>
            <a:ext cx="498157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6472"/>
                </a:solidFill>
              </a:defRPr>
            </a:pPr>
            <a:r>
              <a:rPr sz="1200" b="0" dirty="0">
                <a:solidFill>
                  <a:srgbClr val="5B6472"/>
                </a:solidFill>
              </a:rPr>
              <a:t>Staff may trust one manager or unit while distrusting another</a:t>
            </a:r>
            <a:r>
              <a:rPr lang="en-US" sz="1200" b="0" dirty="0">
                <a:solidFill>
                  <a:srgbClr val="5B6472"/>
                </a:solidFill>
              </a:rPr>
              <a:t>, </a:t>
            </a:r>
            <a:r>
              <a:rPr sz="1200" b="0" dirty="0">
                <a:solidFill>
                  <a:srgbClr val="5B6472"/>
                </a:solidFill>
              </a:rPr>
              <a:t>so enterprise policy alone is insufficient.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B079762-12FA-475E-A65C-E9BAFC0D1F00}"/>
              </a:ext>
            </a:extLst>
          </p:cNvPr>
          <p:cNvSpPr>
            <a:spLocks noGrp="1"/>
          </p:cNvSpPr>
          <p:nvPr/>
        </p:nvSpPr>
        <p:spPr>
          <a:xfrm>
            <a:off x="6429375" y="5086350"/>
            <a:ext cx="485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2324A"/>
                </a:solidFill>
              </a:defRPr>
            </a:pPr>
            <a:r>
              <a:rPr sz="1725" b="1">
                <a:solidFill>
                  <a:srgbClr val="12324A"/>
                </a:solidFill>
              </a:rPr>
              <a:t>Trust is earned through repeated fair decisions, visible support, and useful follow-up.</a:t>
            </a:r>
          </a:p>
        </p:txBody>
      </p:sp>
    </p:spTree>
    <p:extLst>
      <p:ext uri="{BB962C8B-B14F-4D97-AF65-F5344CB8AC3E}">
        <p14:creationId xmlns:p14="http://schemas.microsoft.com/office/powerpoint/2010/main" val="1721680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AA1EBE-6B6B-441C-95B1-EFEC632C1F0A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1144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Gray areas make “fair” decisions difficult to reproduce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99A491-3DED-479D-BB69-5E88267AFFE6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112776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E295FA-0A3C-440A-B2AC-0625009F76D2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472"/>
                </a:solidFill>
              </a:defRPr>
            </a:pPr>
            <a:r>
              <a:rPr sz="750" b="0">
                <a:solidFill>
                  <a:srgbClr val="5B6472"/>
                </a:solidFill>
              </a:rPr>
              <a:t>Sources: AHRQ PSNet, Making Just Culture a Reality; Murray et al. (2023), BMJ Open Quality, doi:10.1136/bmjoq-2022-002237.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2653C2-761D-4058-881D-B2650D810313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35DD62-7534-47D7-B436-E92BEBD3F079}"/>
              </a:ext>
            </a:extLst>
          </p:cNvPr>
          <p:cNvSpPr>
            <a:spLocks noGrp="1"/>
          </p:cNvSpPr>
          <p:nvPr/>
        </p:nvSpPr>
        <p:spPr>
          <a:xfrm>
            <a:off x="457200" y="1495425"/>
            <a:ext cx="5286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2324A"/>
                </a:solidFill>
              </a:defRPr>
            </a:pPr>
            <a:r>
              <a:rPr sz="1800" b="1">
                <a:solidFill>
                  <a:srgbClr val="12324A"/>
                </a:solidFill>
              </a:rPr>
              <a:t>Common sources of inconsistency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65C43B-B724-477F-9C36-2A12883C9C16}"/>
              </a:ext>
            </a:extLst>
          </p:cNvPr>
          <p:cNvSpPr>
            <a:spLocks noGrp="1"/>
          </p:cNvSpPr>
          <p:nvPr/>
        </p:nvSpPr>
        <p:spPr>
          <a:xfrm>
            <a:off x="457200" y="2028825"/>
            <a:ext cx="66675" cy="876300"/>
          </a:xfrm>
          <a:prstGeom prst="rect">
            <a:avLst/>
          </a:prstGeom>
          <a:solidFill>
            <a:srgbClr val="C94C4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8DCA29-6FA5-464A-AC77-15C411B90253}"/>
              </a:ext>
            </a:extLst>
          </p:cNvPr>
          <p:cNvSpPr>
            <a:spLocks noGrp="1"/>
          </p:cNvSpPr>
          <p:nvPr/>
        </p:nvSpPr>
        <p:spPr>
          <a:xfrm>
            <a:off x="666750" y="2028825"/>
            <a:ext cx="4886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Outcome bias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C2EAF0-A9A0-4D28-9EEC-1C31FA385CEB}"/>
              </a:ext>
            </a:extLst>
          </p:cNvPr>
          <p:cNvSpPr>
            <a:spLocks noGrp="1"/>
          </p:cNvSpPr>
          <p:nvPr/>
        </p:nvSpPr>
        <p:spPr>
          <a:xfrm>
            <a:off x="666750" y="2324100"/>
            <a:ext cx="48863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6472"/>
                </a:solidFill>
              </a:defRPr>
            </a:pPr>
            <a:r>
              <a:rPr sz="1200" b="0" dirty="0">
                <a:solidFill>
                  <a:srgbClr val="5B6472"/>
                </a:solidFill>
              </a:rPr>
              <a:t>The same behavior is judged more harshly when it causes harm</a:t>
            </a:r>
            <a:r>
              <a:rPr lang="en-US" sz="1200" b="0" dirty="0">
                <a:solidFill>
                  <a:srgbClr val="5B6472"/>
                </a:solidFill>
              </a:rPr>
              <a:t>, </a:t>
            </a:r>
            <a:r>
              <a:rPr sz="1200" b="0" dirty="0">
                <a:solidFill>
                  <a:srgbClr val="5B6472"/>
                </a:solidFill>
              </a:rPr>
              <a:t>even though luck often determines the outcome.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6C180D-43DC-4BB8-8E65-CCF99D0455FB}"/>
              </a:ext>
            </a:extLst>
          </p:cNvPr>
          <p:cNvSpPr>
            <a:spLocks noGrp="1"/>
          </p:cNvSpPr>
          <p:nvPr/>
        </p:nvSpPr>
        <p:spPr>
          <a:xfrm>
            <a:off x="457200" y="3162300"/>
            <a:ext cx="66675" cy="876300"/>
          </a:xfrm>
          <a:prstGeom prst="rect">
            <a:avLst/>
          </a:prstGeom>
          <a:solidFill>
            <a:srgbClr val="E5A63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FBD862-8370-40B0-BE37-2D5243A850A3}"/>
              </a:ext>
            </a:extLst>
          </p:cNvPr>
          <p:cNvSpPr>
            <a:spLocks noGrp="1"/>
          </p:cNvSpPr>
          <p:nvPr/>
        </p:nvSpPr>
        <p:spPr>
          <a:xfrm>
            <a:off x="666750" y="3162300"/>
            <a:ext cx="4886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Manager-to-manager variation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C9918E-ABB5-4E01-969A-6D085F042149}"/>
              </a:ext>
            </a:extLst>
          </p:cNvPr>
          <p:cNvSpPr>
            <a:spLocks noGrp="1"/>
          </p:cNvSpPr>
          <p:nvPr/>
        </p:nvSpPr>
        <p:spPr>
          <a:xfrm>
            <a:off x="666750" y="3457575"/>
            <a:ext cx="48863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6472"/>
                </a:solidFill>
              </a:defRPr>
            </a:pPr>
            <a:r>
              <a:rPr sz="1200" b="0" dirty="0">
                <a:solidFill>
                  <a:srgbClr val="5B6472"/>
                </a:solidFill>
              </a:rPr>
              <a:t>Without shared training and calibration, </a:t>
            </a:r>
            <a:r>
              <a:rPr lang="es-ES" sz="1200" b="0" dirty="0">
                <a:solidFill>
                  <a:srgbClr val="5B6472"/>
                </a:solidFill>
              </a:rPr>
              <a:t>similares cases</a:t>
            </a:r>
            <a:r>
              <a:rPr sz="1200" b="0" dirty="0">
                <a:solidFill>
                  <a:srgbClr val="5B6472"/>
                </a:solidFill>
              </a:rPr>
              <a:t> receive different labels and consequences.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38C1A1-D148-4E00-B282-4C5E9C02E02A}"/>
              </a:ext>
            </a:extLst>
          </p:cNvPr>
          <p:cNvSpPr>
            <a:spLocks noGrp="1"/>
          </p:cNvSpPr>
          <p:nvPr/>
        </p:nvSpPr>
        <p:spPr>
          <a:xfrm>
            <a:off x="457200" y="4295775"/>
            <a:ext cx="66675" cy="8763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D634D6-9039-4071-A9D6-766F9CCA235C}"/>
              </a:ext>
            </a:extLst>
          </p:cNvPr>
          <p:cNvSpPr>
            <a:spLocks noGrp="1"/>
          </p:cNvSpPr>
          <p:nvPr/>
        </p:nvSpPr>
        <p:spPr>
          <a:xfrm>
            <a:off x="666750" y="4295775"/>
            <a:ext cx="4886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Confusing “just” with “no blame”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EA340C-C12D-4C00-8A84-3EE88DCE80B3}"/>
              </a:ext>
            </a:extLst>
          </p:cNvPr>
          <p:cNvSpPr>
            <a:spLocks noGrp="1"/>
          </p:cNvSpPr>
          <p:nvPr/>
        </p:nvSpPr>
        <p:spPr>
          <a:xfrm>
            <a:off x="666750" y="4591050"/>
            <a:ext cx="48863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6472"/>
                </a:solidFill>
              </a:defRPr>
            </a:pPr>
            <a:r>
              <a:rPr sz="1200" b="0" dirty="0">
                <a:solidFill>
                  <a:srgbClr val="5B6472"/>
                </a:solidFill>
              </a:rPr>
              <a:t>Avoiding all accountability damages credibility just as surely as punishing every error.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70D60E-9EA6-4789-87B5-701FDDCEA46D}"/>
              </a:ext>
            </a:extLst>
          </p:cNvPr>
          <p:cNvSpPr>
            <a:spLocks noGrp="1"/>
          </p:cNvSpPr>
          <p:nvPr/>
        </p:nvSpPr>
        <p:spPr>
          <a:xfrm>
            <a:off x="6191250" y="1666875"/>
            <a:ext cx="5095875" cy="3714750"/>
          </a:xfrm>
          <a:prstGeom prst="rect">
            <a:avLst/>
          </a:prstGeom>
          <a:solidFill>
            <a:srgbClr val="12324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F94DA6-55E3-4EF4-9713-3C631CD7A4C7}"/>
              </a:ext>
            </a:extLst>
          </p:cNvPr>
          <p:cNvSpPr>
            <a:spLocks noGrp="1"/>
          </p:cNvSpPr>
          <p:nvPr/>
        </p:nvSpPr>
        <p:spPr>
          <a:xfrm>
            <a:off x="6515100" y="1952625"/>
            <a:ext cx="442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71C7EC"/>
                </a:solidFill>
              </a:defRPr>
            </a:pPr>
            <a:r>
              <a:rPr sz="1125" b="1">
                <a:solidFill>
                  <a:srgbClr val="71C7EC"/>
                </a:solidFill>
              </a:rPr>
              <a:t>CONSISTENCY TEST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ADEDAC-A576-45A1-A818-0F2390FC7D58}"/>
              </a:ext>
            </a:extLst>
          </p:cNvPr>
          <p:cNvSpPr>
            <a:spLocks noGrp="1"/>
          </p:cNvSpPr>
          <p:nvPr/>
        </p:nvSpPr>
        <p:spPr>
          <a:xfrm>
            <a:off x="6553200" y="25336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71C7EC"/>
                </a:solidFill>
              </a:defRPr>
            </a:pPr>
            <a:r>
              <a:rPr sz="2025" b="1">
                <a:solidFill>
                  <a:srgbClr val="71C7EC"/>
                </a:solidFill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68E2FF-3F4F-4958-AEE1-7B7795777789}"/>
              </a:ext>
            </a:extLst>
          </p:cNvPr>
          <p:cNvSpPr>
            <a:spLocks noGrp="1"/>
          </p:cNvSpPr>
          <p:nvPr/>
        </p:nvSpPr>
        <p:spPr>
          <a:xfrm>
            <a:off x="7143750" y="2428875"/>
            <a:ext cx="3476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Would we decide the same way if no harm occurred?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A5A76B-8F86-48A1-8AA6-CF139FC14E65}"/>
              </a:ext>
            </a:extLst>
          </p:cNvPr>
          <p:cNvSpPr>
            <a:spLocks noGrp="1"/>
          </p:cNvSpPr>
          <p:nvPr/>
        </p:nvSpPr>
        <p:spPr>
          <a:xfrm>
            <a:off x="7143750" y="3105150"/>
            <a:ext cx="3333750" cy="9525"/>
          </a:xfrm>
          <a:prstGeom prst="rect">
            <a:avLst/>
          </a:prstGeom>
          <a:solidFill>
            <a:srgbClr val="496578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ED98C9-C46E-4857-BFC7-F082686F5C0F}"/>
              </a:ext>
            </a:extLst>
          </p:cNvPr>
          <p:cNvSpPr>
            <a:spLocks noGrp="1"/>
          </p:cNvSpPr>
          <p:nvPr/>
        </p:nvSpPr>
        <p:spPr>
          <a:xfrm>
            <a:off x="6553200" y="3371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71C7EC"/>
                </a:solidFill>
              </a:defRPr>
            </a:pPr>
            <a:r>
              <a:rPr sz="2025" b="1">
                <a:solidFill>
                  <a:srgbClr val="71C7EC"/>
                </a:solidFill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ADE202-5D0A-47B3-B314-15162D2CF18C}"/>
              </a:ext>
            </a:extLst>
          </p:cNvPr>
          <p:cNvSpPr>
            <a:spLocks noGrp="1"/>
          </p:cNvSpPr>
          <p:nvPr/>
        </p:nvSpPr>
        <p:spPr>
          <a:xfrm>
            <a:off x="7143750" y="3267075"/>
            <a:ext cx="3476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Did the system make the risky choice easy or normal?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74D28E-A82C-400A-9963-CC60A51D0496}"/>
              </a:ext>
            </a:extLst>
          </p:cNvPr>
          <p:cNvSpPr>
            <a:spLocks noGrp="1"/>
          </p:cNvSpPr>
          <p:nvPr/>
        </p:nvSpPr>
        <p:spPr>
          <a:xfrm>
            <a:off x="7143750" y="3943350"/>
            <a:ext cx="3333750" cy="9525"/>
          </a:xfrm>
          <a:prstGeom prst="rect">
            <a:avLst/>
          </a:prstGeom>
          <a:solidFill>
            <a:srgbClr val="496578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46C890-1AC7-480D-A47F-382713552FE9}"/>
              </a:ext>
            </a:extLst>
          </p:cNvPr>
          <p:cNvSpPr>
            <a:spLocks noGrp="1"/>
          </p:cNvSpPr>
          <p:nvPr/>
        </p:nvSpPr>
        <p:spPr>
          <a:xfrm>
            <a:off x="6553200" y="42100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71C7EC"/>
                </a:solidFill>
              </a:defRPr>
            </a:pPr>
            <a:r>
              <a:rPr sz="2025" b="1">
                <a:solidFill>
                  <a:srgbClr val="71C7EC"/>
                </a:solidFill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E5C651-B0A7-4E41-AAE7-F0F3900EB9C0}"/>
              </a:ext>
            </a:extLst>
          </p:cNvPr>
          <p:cNvSpPr>
            <a:spLocks noGrp="1"/>
          </p:cNvSpPr>
          <p:nvPr/>
        </p:nvSpPr>
        <p:spPr>
          <a:xfrm>
            <a:off x="7143750" y="4105275"/>
            <a:ext cx="3476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Have we applied the same standard across roles and units?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731650-8CF8-4568-A11B-6AB9E6FC92B7}"/>
              </a:ext>
            </a:extLst>
          </p:cNvPr>
          <p:cNvSpPr>
            <a:spLocks noGrp="1"/>
          </p:cNvSpPr>
          <p:nvPr/>
        </p:nvSpPr>
        <p:spPr>
          <a:xfrm>
            <a:off x="7143750" y="4781550"/>
            <a:ext cx="3333750" cy="9525"/>
          </a:xfrm>
          <a:prstGeom prst="rect">
            <a:avLst/>
          </a:prstGeom>
          <a:solidFill>
            <a:srgbClr val="496578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FD0109-1D7D-478F-9715-55CA589D1D4B}"/>
              </a:ext>
            </a:extLst>
          </p:cNvPr>
          <p:cNvSpPr>
            <a:spLocks noGrp="1"/>
          </p:cNvSpPr>
          <p:nvPr/>
        </p:nvSpPr>
        <p:spPr>
          <a:xfrm>
            <a:off x="6191250" y="5657850"/>
            <a:ext cx="5095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2324A"/>
                </a:solidFill>
              </a:defRPr>
            </a:pPr>
            <a:r>
              <a:rPr sz="1425" b="1">
                <a:solidFill>
                  <a:srgbClr val="12324A"/>
                </a:solidFill>
              </a:rPr>
              <a:t>Fairness must be explainable before it can be trusted.</a:t>
            </a:r>
          </a:p>
        </p:txBody>
      </p:sp>
    </p:spTree>
    <p:extLst>
      <p:ext uri="{BB962C8B-B14F-4D97-AF65-F5344CB8AC3E}">
        <p14:creationId xmlns:p14="http://schemas.microsoft.com/office/powerpoint/2010/main" val="1390052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41472B-D06A-4F70-8E33-C6D8B7A0B3E1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1144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Old rules and external pressures revive blame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7BC62B-463E-4AA7-819B-DC5ECB3B05AB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112776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D3F182-DF7C-43B9-B96E-B0E8E52F675E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472"/>
                </a:solidFill>
              </a:defRPr>
            </a:pPr>
            <a:r>
              <a:rPr sz="750" b="0">
                <a:solidFill>
                  <a:srgbClr val="5B6472"/>
                </a:solidFill>
              </a:rPr>
              <a:t>Sources: AHRQ PSNet, Making Just Culture a Reality; NHS England, Patient Safety Strategy consultation results (2019).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94BBA3-9072-4848-BB4E-3829D330B89E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82439E-6A51-4FED-BDA1-904F79D247FB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66675" cy="876300"/>
          </a:xfrm>
          <a:prstGeom prst="rect">
            <a:avLst/>
          </a:prstGeom>
          <a:solidFill>
            <a:srgbClr val="C94C4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BF8042-336C-45A0-8D0D-8B9EC87B37FE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4933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Punitive policies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E3C87C-741E-4FA9-B122-B73430924387}"/>
              </a:ext>
            </a:extLst>
          </p:cNvPr>
          <p:cNvSpPr>
            <a:spLocks noGrp="1"/>
          </p:cNvSpPr>
          <p:nvPr/>
        </p:nvSpPr>
        <p:spPr>
          <a:xfrm>
            <a:off x="666750" y="2009775"/>
            <a:ext cx="49339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Automatic discipline after a number of errors or based on outcome severity conflicts with behavioral assessment.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4F564E-5362-441D-9782-5D8CEC0E3427}"/>
              </a:ext>
            </a:extLst>
          </p:cNvPr>
          <p:cNvSpPr>
            <a:spLocks noGrp="1"/>
          </p:cNvSpPr>
          <p:nvPr/>
        </p:nvSpPr>
        <p:spPr>
          <a:xfrm>
            <a:off x="457200" y="2905125"/>
            <a:ext cx="66675" cy="876300"/>
          </a:xfrm>
          <a:prstGeom prst="rect">
            <a:avLst/>
          </a:prstGeom>
          <a:solidFill>
            <a:srgbClr val="E5A63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B2DBC7-B63E-481C-A031-1CD70A81EF44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4933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Performance processes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BEE86-D250-4577-89FB-BCACD55DABD1}"/>
              </a:ext>
            </a:extLst>
          </p:cNvPr>
          <p:cNvSpPr>
            <a:spLocks noGrp="1"/>
          </p:cNvSpPr>
          <p:nvPr/>
        </p:nvSpPr>
        <p:spPr>
          <a:xfrm>
            <a:off x="666750" y="3200400"/>
            <a:ext cx="49339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Incident review, HR discipline, credentialing, and labor agreements may use different standards.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28F906-C5A7-4D65-8830-F37E583DE6B1}"/>
              </a:ext>
            </a:extLst>
          </p:cNvPr>
          <p:cNvSpPr>
            <a:spLocks noGrp="1"/>
          </p:cNvSpPr>
          <p:nvPr/>
        </p:nvSpPr>
        <p:spPr>
          <a:xfrm>
            <a:off x="457200" y="4095750"/>
            <a:ext cx="66675" cy="8763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3AD962-7DA9-4F05-BFBE-7D502400000D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933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Blame-inducing language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ADA21D-75E8-4F7A-B787-B8495BA2D722}"/>
              </a:ext>
            </a:extLst>
          </p:cNvPr>
          <p:cNvSpPr>
            <a:spLocks noGrp="1"/>
          </p:cNvSpPr>
          <p:nvPr/>
        </p:nvSpPr>
        <p:spPr>
          <a:xfrm>
            <a:off x="666750" y="4391025"/>
            <a:ext cx="49339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“Investigation,” “violation,” and “never event” can frame a complex failure as individual fault.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CA2AA8-385F-467C-8C10-5734B4E98995}"/>
              </a:ext>
            </a:extLst>
          </p:cNvPr>
          <p:cNvSpPr>
            <a:spLocks noGrp="1"/>
          </p:cNvSpPr>
          <p:nvPr/>
        </p:nvSpPr>
        <p:spPr>
          <a:xfrm>
            <a:off x="6334125" y="1695450"/>
            <a:ext cx="4953000" cy="356235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417FE2-1043-4841-96F0-6F8E9654B593}"/>
              </a:ext>
            </a:extLst>
          </p:cNvPr>
          <p:cNvSpPr>
            <a:spLocks noGrp="1"/>
          </p:cNvSpPr>
          <p:nvPr/>
        </p:nvSpPr>
        <p:spPr>
          <a:xfrm>
            <a:off x="6648450" y="19240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5B6472"/>
                </a:solidFill>
              </a:defRPr>
            </a:pPr>
            <a:r>
              <a:rPr sz="1125" b="1">
                <a:solidFill>
                  <a:srgbClr val="5B6472"/>
                </a:solidFill>
              </a:rPr>
              <a:t>COMPETING DEMANDS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C68FCB-B056-42A7-94EC-0CDAA2BC7C7D}"/>
              </a:ext>
            </a:extLst>
          </p:cNvPr>
          <p:cNvSpPr>
            <a:spLocks noGrp="1"/>
          </p:cNvSpPr>
          <p:nvPr/>
        </p:nvSpPr>
        <p:spPr>
          <a:xfrm>
            <a:off x="6667500" y="2390775"/>
            <a:ext cx="4000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AC4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975E58-20DA-4496-9547-9BCF0EB500D4}"/>
              </a:ext>
            </a:extLst>
          </p:cNvPr>
          <p:cNvSpPr>
            <a:spLocks noGrp="1"/>
          </p:cNvSpPr>
          <p:nvPr/>
        </p:nvSpPr>
        <p:spPr>
          <a:xfrm>
            <a:off x="6858000" y="244792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Patient and family expectations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030D78-C63E-4E5B-B744-2B0D576D800C}"/>
              </a:ext>
            </a:extLst>
          </p:cNvPr>
          <p:cNvSpPr>
            <a:spLocks noGrp="1"/>
          </p:cNvSpPr>
          <p:nvPr/>
        </p:nvSpPr>
        <p:spPr>
          <a:xfrm>
            <a:off x="6667500" y="2981325"/>
            <a:ext cx="4000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AC4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C1DBF0-6F46-40BC-9B56-242A18074894}"/>
              </a:ext>
            </a:extLst>
          </p:cNvPr>
          <p:cNvSpPr>
            <a:spLocks noGrp="1"/>
          </p:cNvSpPr>
          <p:nvPr/>
        </p:nvSpPr>
        <p:spPr>
          <a:xfrm>
            <a:off x="6858000" y="303847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Legal and regulatory exposure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956F7D-9E75-4CB0-845E-F47AB2233342}"/>
              </a:ext>
            </a:extLst>
          </p:cNvPr>
          <p:cNvSpPr>
            <a:spLocks noGrp="1"/>
          </p:cNvSpPr>
          <p:nvPr/>
        </p:nvSpPr>
        <p:spPr>
          <a:xfrm>
            <a:off x="6667500" y="3571875"/>
            <a:ext cx="4000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AC4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AF598F-34F3-45F5-9023-2689B770DC74}"/>
              </a:ext>
            </a:extLst>
          </p:cNvPr>
          <p:cNvSpPr>
            <a:spLocks noGrp="1"/>
          </p:cNvSpPr>
          <p:nvPr/>
        </p:nvSpPr>
        <p:spPr>
          <a:xfrm>
            <a:off x="6858000" y="362902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Media and reputational pressure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35FD35-A794-4CA8-8D5E-847EB97057DE}"/>
              </a:ext>
            </a:extLst>
          </p:cNvPr>
          <p:cNvSpPr>
            <a:spLocks noGrp="1"/>
          </p:cNvSpPr>
          <p:nvPr/>
        </p:nvSpPr>
        <p:spPr>
          <a:xfrm>
            <a:off x="6667500" y="4162425"/>
            <a:ext cx="4000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AC4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70E22B-B5E6-4D62-90A4-F8AF5D682FC7}"/>
              </a:ext>
            </a:extLst>
          </p:cNvPr>
          <p:cNvSpPr>
            <a:spLocks noGrp="1"/>
          </p:cNvSpPr>
          <p:nvPr/>
        </p:nvSpPr>
        <p:spPr>
          <a:xfrm>
            <a:off x="6858000" y="421957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Need for timely operational decisions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CE2CAD-333D-49F1-8B75-EAB92961C109}"/>
              </a:ext>
            </a:extLst>
          </p:cNvPr>
          <p:cNvSpPr>
            <a:spLocks noGrp="1"/>
          </p:cNvSpPr>
          <p:nvPr/>
        </p:nvSpPr>
        <p:spPr>
          <a:xfrm>
            <a:off x="6334125" y="5486400"/>
            <a:ext cx="4953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2324A"/>
                </a:solidFill>
              </a:defRPr>
            </a:pPr>
            <a:r>
              <a:rPr sz="1500" b="1">
                <a:solidFill>
                  <a:srgbClr val="12324A"/>
                </a:solidFill>
              </a:rPr>
              <a:t>The solution is not to ignore accountability—it is to align policies and explain the decision process transparently.</a:t>
            </a:r>
          </a:p>
        </p:txBody>
      </p:sp>
    </p:spTree>
    <p:extLst>
      <p:ext uri="{BB962C8B-B14F-4D97-AF65-F5344CB8AC3E}">
        <p14:creationId xmlns:p14="http://schemas.microsoft.com/office/powerpoint/2010/main" val="1104623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E8A7DC-1DF8-4826-B369-019471707457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1144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Culture change stalls when the learning system has no capacity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663B90-3170-4199-9C7D-4BB2E3D31383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112776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470E40-083F-485E-BFF7-2AEFF69594B9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472"/>
                </a:solidFill>
              </a:defRPr>
            </a:pPr>
            <a:r>
              <a:rPr sz="750" b="0">
                <a:solidFill>
                  <a:srgbClr val="5B6472"/>
                </a:solidFill>
              </a:rPr>
              <a:t>Sources: NHS England, Safety Culture: Learning from Best Practice (2022); Murray et al. (2023).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E9DC62-1EB6-47EC-AF1B-410BE6302B69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9D00A8-3B71-4A76-B4A9-7393F96010E1}"/>
              </a:ext>
            </a:extLst>
          </p:cNvPr>
          <p:cNvSpPr>
            <a:spLocks noGrp="1"/>
          </p:cNvSpPr>
          <p:nvPr/>
        </p:nvSpPr>
        <p:spPr>
          <a:xfrm>
            <a:off x="457200" y="14668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324A"/>
                </a:solidFill>
              </a:defRPr>
            </a:pPr>
            <a:r>
              <a:rPr sz="1650" b="1">
                <a:solidFill>
                  <a:srgbClr val="12324A"/>
                </a:solidFill>
              </a:rPr>
              <a:t>A report creates value only if the organization can convert it into action.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D286A8-AFF0-4D7A-A1CD-857FDC32466D}"/>
              </a:ext>
            </a:extLst>
          </p:cNvPr>
          <p:cNvSpPr>
            <a:spLocks noGrp="1"/>
          </p:cNvSpPr>
          <p:nvPr/>
        </p:nvSpPr>
        <p:spPr>
          <a:xfrm>
            <a:off x="2476500" y="2933700"/>
            <a:ext cx="457200" cy="28575"/>
          </a:xfrm>
          <a:prstGeom prst="rect">
            <a:avLst/>
          </a:prstGeom>
          <a:solidFill>
            <a:srgbClr val="71C7E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13BEB9-EE89-46C6-A9B3-2BC3D45B9223}"/>
              </a:ext>
            </a:extLst>
          </p:cNvPr>
          <p:cNvSpPr>
            <a:spLocks noGrp="1"/>
          </p:cNvSpPr>
          <p:nvPr/>
        </p:nvSpPr>
        <p:spPr>
          <a:xfrm>
            <a:off x="2647950" y="2743200"/>
            <a:ext cx="28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2980B9"/>
                </a:solidFill>
              </a:defRPr>
            </a:pPr>
            <a:r>
              <a:rPr sz="2100" b="1">
                <a:solidFill>
                  <a:srgbClr val="2980B9"/>
                </a:solidFill>
              </a:rPr>
              <a:t>›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142974-0F4D-4B43-8593-FE08DE9809F8}"/>
              </a:ext>
            </a:extLst>
          </p:cNvPr>
          <p:cNvSpPr>
            <a:spLocks noGrp="1"/>
          </p:cNvSpPr>
          <p:nvPr/>
        </p:nvSpPr>
        <p:spPr>
          <a:xfrm>
            <a:off x="4686300" y="2933700"/>
            <a:ext cx="457200" cy="28575"/>
          </a:xfrm>
          <a:prstGeom prst="rect">
            <a:avLst/>
          </a:prstGeom>
          <a:solidFill>
            <a:srgbClr val="71C7E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F15B45-A9A6-4DC5-9C83-C292256C7F39}"/>
              </a:ext>
            </a:extLst>
          </p:cNvPr>
          <p:cNvSpPr>
            <a:spLocks noGrp="1"/>
          </p:cNvSpPr>
          <p:nvPr/>
        </p:nvSpPr>
        <p:spPr>
          <a:xfrm>
            <a:off x="4857750" y="2743200"/>
            <a:ext cx="28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2980B9"/>
                </a:solidFill>
              </a:defRPr>
            </a:pPr>
            <a:r>
              <a:rPr sz="2100" b="1">
                <a:solidFill>
                  <a:srgbClr val="2980B9"/>
                </a:solidFill>
              </a:rPr>
              <a:t>›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F68665-8F36-42E3-BE9B-50E62990FCDA}"/>
              </a:ext>
            </a:extLst>
          </p:cNvPr>
          <p:cNvSpPr>
            <a:spLocks noGrp="1"/>
          </p:cNvSpPr>
          <p:nvPr/>
        </p:nvSpPr>
        <p:spPr>
          <a:xfrm>
            <a:off x="6896100" y="2933700"/>
            <a:ext cx="457200" cy="28575"/>
          </a:xfrm>
          <a:prstGeom prst="rect">
            <a:avLst/>
          </a:prstGeom>
          <a:solidFill>
            <a:srgbClr val="71C7E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E9B00B-8874-4388-8B4F-1F13C796F0A5}"/>
              </a:ext>
            </a:extLst>
          </p:cNvPr>
          <p:cNvSpPr>
            <a:spLocks noGrp="1"/>
          </p:cNvSpPr>
          <p:nvPr/>
        </p:nvSpPr>
        <p:spPr>
          <a:xfrm>
            <a:off x="7067550" y="2743200"/>
            <a:ext cx="28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2980B9"/>
                </a:solidFill>
              </a:defRPr>
            </a:pPr>
            <a:r>
              <a:rPr sz="2100" b="1">
                <a:solidFill>
                  <a:srgbClr val="2980B9"/>
                </a:solidFill>
              </a:rPr>
              <a:t>›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2192FC-A497-4BDB-9C1E-47B2E1E2A5D6}"/>
              </a:ext>
            </a:extLst>
          </p:cNvPr>
          <p:cNvSpPr>
            <a:spLocks noGrp="1"/>
          </p:cNvSpPr>
          <p:nvPr/>
        </p:nvSpPr>
        <p:spPr>
          <a:xfrm>
            <a:off x="9105900" y="2933700"/>
            <a:ext cx="457200" cy="28575"/>
          </a:xfrm>
          <a:prstGeom prst="rect">
            <a:avLst/>
          </a:prstGeom>
          <a:solidFill>
            <a:srgbClr val="71C7E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6CF0AD-BFA5-40DC-879C-F026187F1DB3}"/>
              </a:ext>
            </a:extLst>
          </p:cNvPr>
          <p:cNvSpPr>
            <a:spLocks noGrp="1"/>
          </p:cNvSpPr>
          <p:nvPr/>
        </p:nvSpPr>
        <p:spPr>
          <a:xfrm>
            <a:off x="9277350" y="2743200"/>
            <a:ext cx="28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2980B9"/>
                </a:solidFill>
              </a:defRPr>
            </a:pPr>
            <a:r>
              <a:rPr sz="2100" b="1">
                <a:solidFill>
                  <a:srgbClr val="2980B9"/>
                </a:solidFill>
              </a:rPr>
              <a:t>›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3ECF6B-8252-41C3-B0B0-47A20C24F593}"/>
              </a:ext>
            </a:extLst>
          </p:cNvPr>
          <p:cNvSpPr>
            <a:spLocks noGrp="1"/>
          </p:cNvSpPr>
          <p:nvPr/>
        </p:nvSpPr>
        <p:spPr>
          <a:xfrm>
            <a:off x="457200" y="2324100"/>
            <a:ext cx="1809750" cy="142875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A8437D-C829-45D1-8566-F2A04F6ED913}"/>
              </a:ext>
            </a:extLst>
          </p:cNvPr>
          <p:cNvSpPr>
            <a:spLocks noGrp="1"/>
          </p:cNvSpPr>
          <p:nvPr/>
        </p:nvSpPr>
        <p:spPr>
          <a:xfrm>
            <a:off x="600075" y="25336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980B9"/>
                </a:solidFill>
              </a:defRPr>
            </a:pPr>
            <a:r>
              <a:rPr sz="1125" b="1">
                <a:solidFill>
                  <a:srgbClr val="2980B9"/>
                </a:solidFill>
              </a:rPr>
              <a:t>REPORT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258045-BDEC-4C47-954B-5A5BE54BCA50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504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Simple access</a:t>
            </a:r>
          </a:p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Protected voice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671EEB-3C77-40FF-B8A2-21B39DD65414}"/>
              </a:ext>
            </a:extLst>
          </p:cNvPr>
          <p:cNvSpPr>
            <a:spLocks noGrp="1"/>
          </p:cNvSpPr>
          <p:nvPr/>
        </p:nvSpPr>
        <p:spPr>
          <a:xfrm>
            <a:off x="2667000" y="2324100"/>
            <a:ext cx="1809750" cy="142875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DA04E3-5C7F-4E91-B182-22F9E2558A1F}"/>
              </a:ext>
            </a:extLst>
          </p:cNvPr>
          <p:cNvSpPr>
            <a:spLocks noGrp="1"/>
          </p:cNvSpPr>
          <p:nvPr/>
        </p:nvSpPr>
        <p:spPr>
          <a:xfrm>
            <a:off x="2809875" y="25336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980B9"/>
                </a:solidFill>
              </a:defRPr>
            </a:pPr>
            <a:r>
              <a:rPr sz="1125" b="1">
                <a:solidFill>
                  <a:srgbClr val="2980B9"/>
                </a:solidFill>
              </a:rPr>
              <a:t>REVIEW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C18B3-2222-4AC0-8755-EBBCD3A4B280}"/>
              </a:ext>
            </a:extLst>
          </p:cNvPr>
          <p:cNvSpPr>
            <a:spLocks noGrp="1"/>
          </p:cNvSpPr>
          <p:nvPr/>
        </p:nvSpPr>
        <p:spPr>
          <a:xfrm>
            <a:off x="2819400" y="2924175"/>
            <a:ext cx="1504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Human factors</a:t>
            </a:r>
          </a:p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Consistent triage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CFDE9D-67E9-4528-A311-051FA0C3EE3A}"/>
              </a:ext>
            </a:extLst>
          </p:cNvPr>
          <p:cNvSpPr>
            <a:spLocks noGrp="1"/>
          </p:cNvSpPr>
          <p:nvPr/>
        </p:nvSpPr>
        <p:spPr>
          <a:xfrm>
            <a:off x="4876800" y="2324100"/>
            <a:ext cx="1809750" cy="1428750"/>
          </a:xfrm>
          <a:prstGeom prst="rect">
            <a:avLst/>
          </a:prstGeom>
          <a:solidFill>
            <a:srgbClr val="12324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1680BC-BB93-435B-8337-65B9261E2DFE}"/>
              </a:ext>
            </a:extLst>
          </p:cNvPr>
          <p:cNvSpPr>
            <a:spLocks noGrp="1"/>
          </p:cNvSpPr>
          <p:nvPr/>
        </p:nvSpPr>
        <p:spPr>
          <a:xfrm>
            <a:off x="5019675" y="25336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71C7EC"/>
                </a:solidFill>
              </a:defRPr>
            </a:pPr>
            <a:r>
              <a:rPr sz="1125" b="1">
                <a:solidFill>
                  <a:srgbClr val="71C7EC"/>
                </a:solidFill>
              </a:rPr>
              <a:t>LEARN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17C10F-AA19-4237-925F-4E86B83A85F4}"/>
              </a:ext>
            </a:extLst>
          </p:cNvPr>
          <p:cNvSpPr>
            <a:spLocks noGrp="1"/>
          </p:cNvSpPr>
          <p:nvPr/>
        </p:nvSpPr>
        <p:spPr>
          <a:xfrm>
            <a:off x="5029200" y="2924175"/>
            <a:ext cx="1504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System causes</a:t>
            </a:r>
          </a:p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Shared insight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0155EA-53F7-47F5-B1FD-7EA1EC815ABB}"/>
              </a:ext>
            </a:extLst>
          </p:cNvPr>
          <p:cNvSpPr>
            <a:spLocks noGrp="1"/>
          </p:cNvSpPr>
          <p:nvPr/>
        </p:nvSpPr>
        <p:spPr>
          <a:xfrm>
            <a:off x="7086600" y="2324100"/>
            <a:ext cx="1809750" cy="142875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32BC44-E4A2-41A4-9F31-E555C2F3B4DE}"/>
              </a:ext>
            </a:extLst>
          </p:cNvPr>
          <p:cNvSpPr>
            <a:spLocks noGrp="1"/>
          </p:cNvSpPr>
          <p:nvPr/>
        </p:nvSpPr>
        <p:spPr>
          <a:xfrm>
            <a:off x="7229475" y="25336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980B9"/>
                </a:solidFill>
              </a:defRPr>
            </a:pPr>
            <a:r>
              <a:rPr sz="1125" b="1">
                <a:solidFill>
                  <a:srgbClr val="2980B9"/>
                </a:solidFill>
              </a:rPr>
              <a:t>CHANGE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5441DC-4ADA-44FC-8FA5-15C3C8750F12}"/>
              </a:ext>
            </a:extLst>
          </p:cNvPr>
          <p:cNvSpPr>
            <a:spLocks noGrp="1"/>
          </p:cNvSpPr>
          <p:nvPr/>
        </p:nvSpPr>
        <p:spPr>
          <a:xfrm>
            <a:off x="7239000" y="2924175"/>
            <a:ext cx="1504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Owner + deadline</a:t>
            </a:r>
          </a:p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Strong action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C1DD64-70C7-4802-AA95-D2C40892CD4C}"/>
              </a:ext>
            </a:extLst>
          </p:cNvPr>
          <p:cNvSpPr>
            <a:spLocks noGrp="1"/>
          </p:cNvSpPr>
          <p:nvPr/>
        </p:nvSpPr>
        <p:spPr>
          <a:xfrm>
            <a:off x="9296400" y="2324100"/>
            <a:ext cx="1809750" cy="142875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FC54C6-AE3E-4E1E-9205-B5D1122D1658}"/>
              </a:ext>
            </a:extLst>
          </p:cNvPr>
          <p:cNvSpPr>
            <a:spLocks noGrp="1"/>
          </p:cNvSpPr>
          <p:nvPr/>
        </p:nvSpPr>
        <p:spPr>
          <a:xfrm>
            <a:off x="9439275" y="25336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980B9"/>
                </a:solidFill>
              </a:defRPr>
            </a:pPr>
            <a:r>
              <a:rPr sz="1125" b="1">
                <a:solidFill>
                  <a:srgbClr val="2980B9"/>
                </a:solidFill>
              </a:rPr>
              <a:t>FEEDBACK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0FDCFC-737C-4B65-A714-1F3C10105693}"/>
              </a:ext>
            </a:extLst>
          </p:cNvPr>
          <p:cNvSpPr>
            <a:spLocks noGrp="1"/>
          </p:cNvSpPr>
          <p:nvPr/>
        </p:nvSpPr>
        <p:spPr>
          <a:xfrm>
            <a:off x="9448800" y="2924175"/>
            <a:ext cx="1504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Close the loop</a:t>
            </a:r>
          </a:p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Measure effect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16D142-89F5-491E-8AF0-B797C04F80BF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66675" cy="876300"/>
          </a:xfrm>
          <a:prstGeom prst="rect">
            <a:avLst/>
          </a:prstGeom>
          <a:solidFill>
            <a:srgbClr val="C94C4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BE5228-3CC8-4814-AD16-67E8EAF35671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3219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Workload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B9D074-F759-40F8-AB3A-855B82EC3BF9}"/>
              </a:ext>
            </a:extLst>
          </p:cNvPr>
          <p:cNvSpPr>
            <a:spLocks noGrp="1"/>
          </p:cNvSpPr>
          <p:nvPr/>
        </p:nvSpPr>
        <p:spPr>
          <a:xfrm>
            <a:off x="666750" y="4581525"/>
            <a:ext cx="32194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Staffing and service pressure crowd out review and improvement.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5A4650-5425-491A-A3B2-2960B036AA09}"/>
              </a:ext>
            </a:extLst>
          </p:cNvPr>
          <p:cNvSpPr>
            <a:spLocks noGrp="1"/>
          </p:cNvSpPr>
          <p:nvPr/>
        </p:nvSpPr>
        <p:spPr>
          <a:xfrm>
            <a:off x="4210050" y="4286250"/>
            <a:ext cx="66675" cy="876300"/>
          </a:xfrm>
          <a:prstGeom prst="rect">
            <a:avLst/>
          </a:prstGeom>
          <a:solidFill>
            <a:srgbClr val="E5A63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674A61-ADA2-427E-B8F8-81510666F469}"/>
              </a:ext>
            </a:extLst>
          </p:cNvPr>
          <p:cNvSpPr>
            <a:spLocks noGrp="1"/>
          </p:cNvSpPr>
          <p:nvPr/>
        </p:nvSpPr>
        <p:spPr>
          <a:xfrm>
            <a:off x="4419600" y="4286250"/>
            <a:ext cx="3219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Skill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C790138-A26E-4E10-969B-F65C08F5A26B}"/>
              </a:ext>
            </a:extLst>
          </p:cNvPr>
          <p:cNvSpPr>
            <a:spLocks noGrp="1"/>
          </p:cNvSpPr>
          <p:nvPr/>
        </p:nvSpPr>
        <p:spPr>
          <a:xfrm>
            <a:off x="4419600" y="4581525"/>
            <a:ext cx="32194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Managers may lack human-factors, coaching, or investigation training.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D3C500-A1D9-431D-BE8A-F1AADECA6826}"/>
              </a:ext>
            </a:extLst>
          </p:cNvPr>
          <p:cNvSpPr>
            <a:spLocks noGrp="1"/>
          </p:cNvSpPr>
          <p:nvPr/>
        </p:nvSpPr>
        <p:spPr>
          <a:xfrm>
            <a:off x="7962900" y="4286250"/>
            <a:ext cx="66675" cy="876300"/>
          </a:xfrm>
          <a:prstGeom prst="rect">
            <a:avLst/>
          </a:prstGeom>
          <a:solidFill>
            <a:srgbClr val="2F8F6B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B01142C-7469-4F0C-A64F-492E54F5C105}"/>
              </a:ext>
            </a:extLst>
          </p:cNvPr>
          <p:cNvSpPr>
            <a:spLocks noGrp="1"/>
          </p:cNvSpPr>
          <p:nvPr/>
        </p:nvSpPr>
        <p:spPr>
          <a:xfrm>
            <a:off x="8172450" y="4286250"/>
            <a:ext cx="3219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Follow-through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FEDA1D-7D85-4259-AA9F-2FB6268F1DB0}"/>
              </a:ext>
            </a:extLst>
          </p:cNvPr>
          <p:cNvSpPr>
            <a:spLocks noGrp="1"/>
          </p:cNvSpPr>
          <p:nvPr/>
        </p:nvSpPr>
        <p:spPr>
          <a:xfrm>
            <a:off x="8172450" y="4581525"/>
            <a:ext cx="32194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No owner, deadline, feedback, or measurement turns reporting into a dead end.</a:t>
            </a:r>
          </a:p>
        </p:txBody>
      </p:sp>
    </p:spTree>
    <p:extLst>
      <p:ext uri="{BB962C8B-B14F-4D97-AF65-F5344CB8AC3E}">
        <p14:creationId xmlns:p14="http://schemas.microsoft.com/office/powerpoint/2010/main" val="1837162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DC00F8E-0B2F-482B-8055-101DB260E4BB}"/>
              </a:ext>
            </a:extLst>
          </p:cNvPr>
          <p:cNvSpPr>
            <a:spLocks noGrp="1"/>
          </p:cNvSpPr>
          <p:nvPr/>
        </p:nvSpPr>
        <p:spPr>
          <a:xfrm>
            <a:off x="457200" y="247650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980B9"/>
                </a:solidFill>
              </a:defRPr>
            </a:pPr>
            <a:r>
              <a:rPr sz="900" b="1">
                <a:solidFill>
                  <a:srgbClr val="2980B9"/>
                </a:solidFill>
              </a:rPr>
              <a:t>ACTION PLAN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DF9622-7C7B-4C0E-9198-AA31EAE7D47A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1144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Implementation succeeds when leaders make fairness observable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753371-9FB4-4DF0-9997-5CD5CAB50A99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112776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B6379E-100A-48C8-A72D-83C5322B3839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472"/>
                </a:solidFill>
              </a:defRPr>
            </a:pPr>
            <a:r>
              <a:rPr sz="750" b="0">
                <a:solidFill>
                  <a:srgbClr val="5B6472"/>
                </a:solidFill>
              </a:rPr>
              <a:t>Sources: Murray et al. (2023); AHRQ CANDOR Module 2; AHRQ PSNet, Making Just Culture a Reality.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69F4C0-61D7-44A6-921B-9710CE3BAE4B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6EA5C1-0116-4B3B-9B88-0294C18811D1}"/>
              </a:ext>
            </a:extLst>
          </p:cNvPr>
          <p:cNvSpPr>
            <a:spLocks noGrp="1"/>
          </p:cNvSpPr>
          <p:nvPr/>
        </p:nvSpPr>
        <p:spPr>
          <a:xfrm>
            <a:off x="457200" y="1562100"/>
            <a:ext cx="723900" cy="647700"/>
          </a:xfrm>
          <a:prstGeom prst="rect">
            <a:avLst/>
          </a:prstGeom>
          <a:solidFill>
            <a:srgbClr val="12324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637372-F295-484D-AC55-6462DE53C957}"/>
              </a:ext>
            </a:extLst>
          </p:cNvPr>
          <p:cNvSpPr>
            <a:spLocks noGrp="1"/>
          </p:cNvSpPr>
          <p:nvPr/>
        </p:nvSpPr>
        <p:spPr>
          <a:xfrm>
            <a:off x="457200" y="1657350"/>
            <a:ext cx="723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5373E9-1563-4662-A7D5-CB05CAF490BE}"/>
              </a:ext>
            </a:extLst>
          </p:cNvPr>
          <p:cNvSpPr>
            <a:spLocks noGrp="1"/>
          </p:cNvSpPr>
          <p:nvPr/>
        </p:nvSpPr>
        <p:spPr>
          <a:xfrm>
            <a:off x="1428750" y="15621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2324A"/>
                </a:solidFill>
              </a:defRPr>
            </a:pPr>
            <a:r>
              <a:rPr sz="1725" b="1">
                <a:solidFill>
                  <a:srgbClr val="12324A"/>
                </a:solidFill>
              </a:rPr>
              <a:t>Align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4C71C0-0E56-4F6A-92CA-91D28F9487EE}"/>
              </a:ext>
            </a:extLst>
          </p:cNvPr>
          <p:cNvSpPr>
            <a:spLocks noGrp="1"/>
          </p:cNvSpPr>
          <p:nvPr/>
        </p:nvSpPr>
        <p:spPr>
          <a:xfrm>
            <a:off x="3333750" y="1562100"/>
            <a:ext cx="790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 behavior categories; remove outcome-based and automatic punishment rules.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F25BD5-2619-4F5F-80D5-6C289E06932F}"/>
              </a:ext>
            </a:extLst>
          </p:cNvPr>
          <p:cNvSpPr>
            <a:spLocks noGrp="1"/>
          </p:cNvSpPr>
          <p:nvPr/>
        </p:nvSpPr>
        <p:spPr>
          <a:xfrm>
            <a:off x="819150" y="2209800"/>
            <a:ext cx="19050" cy="228600"/>
          </a:xfrm>
          <a:prstGeom prst="rect">
            <a:avLst/>
          </a:prstGeom>
          <a:solidFill>
            <a:srgbClr val="BAC4C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E95F38-A920-495D-B529-872260986B01}"/>
              </a:ext>
            </a:extLst>
          </p:cNvPr>
          <p:cNvSpPr>
            <a:spLocks noGrp="1"/>
          </p:cNvSpPr>
          <p:nvPr/>
        </p:nvSpPr>
        <p:spPr>
          <a:xfrm>
            <a:off x="457200" y="2438400"/>
            <a:ext cx="723900" cy="6477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0D24EE-C31A-40E1-A41D-07218BEFBDB9}"/>
              </a:ext>
            </a:extLst>
          </p:cNvPr>
          <p:cNvSpPr>
            <a:spLocks noGrp="1"/>
          </p:cNvSpPr>
          <p:nvPr/>
        </p:nvSpPr>
        <p:spPr>
          <a:xfrm>
            <a:off x="457200" y="2533650"/>
            <a:ext cx="723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59474E-A255-4A55-A337-5F4C565AB0C0}"/>
              </a:ext>
            </a:extLst>
          </p:cNvPr>
          <p:cNvSpPr>
            <a:spLocks noGrp="1"/>
          </p:cNvSpPr>
          <p:nvPr/>
        </p:nvSpPr>
        <p:spPr>
          <a:xfrm>
            <a:off x="1428750" y="24384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2324A"/>
                </a:solidFill>
              </a:defRPr>
            </a:pPr>
            <a:r>
              <a:rPr sz="1725" b="1">
                <a:solidFill>
                  <a:srgbClr val="12324A"/>
                </a:solidFill>
              </a:rPr>
              <a:t>Prepare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D6EFF2-0ABB-4279-A251-8D7FA26A9FBD}"/>
              </a:ext>
            </a:extLst>
          </p:cNvPr>
          <p:cNvSpPr>
            <a:spLocks noGrp="1"/>
          </p:cNvSpPr>
          <p:nvPr/>
        </p:nvSpPr>
        <p:spPr>
          <a:xfrm>
            <a:off x="3333750" y="2438400"/>
            <a:ext cx="790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Train leaders with realistic cases; calibrate decisions across HR, safety, and operations.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E09B2A-F4FA-45AB-A601-2A2A080E0A2A}"/>
              </a:ext>
            </a:extLst>
          </p:cNvPr>
          <p:cNvSpPr>
            <a:spLocks noGrp="1"/>
          </p:cNvSpPr>
          <p:nvPr/>
        </p:nvSpPr>
        <p:spPr>
          <a:xfrm>
            <a:off x="819150" y="3086100"/>
            <a:ext cx="19050" cy="228600"/>
          </a:xfrm>
          <a:prstGeom prst="rect">
            <a:avLst/>
          </a:prstGeom>
          <a:solidFill>
            <a:srgbClr val="BAC4C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1B9BDC-5AF9-4BE7-967A-3B3A1BBE64FE}"/>
              </a:ext>
            </a:extLst>
          </p:cNvPr>
          <p:cNvSpPr>
            <a:spLocks noGrp="1"/>
          </p:cNvSpPr>
          <p:nvPr/>
        </p:nvSpPr>
        <p:spPr>
          <a:xfrm>
            <a:off x="457200" y="3314700"/>
            <a:ext cx="723900" cy="6477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CD941-57B4-45B6-B0B2-3AA47BFBE815}"/>
              </a:ext>
            </a:extLst>
          </p:cNvPr>
          <p:cNvSpPr>
            <a:spLocks noGrp="1"/>
          </p:cNvSpPr>
          <p:nvPr/>
        </p:nvSpPr>
        <p:spPr>
          <a:xfrm>
            <a:off x="457200" y="3409950"/>
            <a:ext cx="723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3D44C0-99FA-4409-A610-8C2C2FE00EF0}"/>
              </a:ext>
            </a:extLst>
          </p:cNvPr>
          <p:cNvSpPr>
            <a:spLocks noGrp="1"/>
          </p:cNvSpPr>
          <p:nvPr/>
        </p:nvSpPr>
        <p:spPr>
          <a:xfrm>
            <a:off x="1428750" y="33147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2324A"/>
                </a:solidFill>
              </a:defRPr>
            </a:pPr>
            <a:r>
              <a:rPr sz="1725" b="1">
                <a:solidFill>
                  <a:srgbClr val="12324A"/>
                </a:solidFill>
              </a:rPr>
              <a:t>Demonstrate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5C20F3-D0F7-4A17-8CF8-10DC6FA576F7}"/>
              </a:ext>
            </a:extLst>
          </p:cNvPr>
          <p:cNvSpPr>
            <a:spLocks noGrp="1"/>
          </p:cNvSpPr>
          <p:nvPr/>
        </p:nvSpPr>
        <p:spPr>
          <a:xfrm>
            <a:off x="3333750" y="3314700"/>
            <a:ext cx="790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Model speaking up, protect reporters, and communicate how decisions were reached.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87F61F-C232-4DFA-8EEC-3E5C56FCBE44}"/>
              </a:ext>
            </a:extLst>
          </p:cNvPr>
          <p:cNvSpPr>
            <a:spLocks noGrp="1"/>
          </p:cNvSpPr>
          <p:nvPr/>
        </p:nvSpPr>
        <p:spPr>
          <a:xfrm>
            <a:off x="819150" y="3962400"/>
            <a:ext cx="19050" cy="228600"/>
          </a:xfrm>
          <a:prstGeom prst="rect">
            <a:avLst/>
          </a:prstGeom>
          <a:solidFill>
            <a:srgbClr val="BAC4C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816A41-9FC8-4878-AD16-0DCA4F6DA636}"/>
              </a:ext>
            </a:extLst>
          </p:cNvPr>
          <p:cNvSpPr>
            <a:spLocks noGrp="1"/>
          </p:cNvSpPr>
          <p:nvPr/>
        </p:nvSpPr>
        <p:spPr>
          <a:xfrm>
            <a:off x="457200" y="4191000"/>
            <a:ext cx="723900" cy="6477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AAFAB4-9E18-4EBB-B073-F8CCDB9C50BC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723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471693-3AD2-442A-B34E-6261B7FF5E3D}"/>
              </a:ext>
            </a:extLst>
          </p:cNvPr>
          <p:cNvSpPr>
            <a:spLocks noGrp="1"/>
          </p:cNvSpPr>
          <p:nvPr/>
        </p:nvSpPr>
        <p:spPr>
          <a:xfrm>
            <a:off x="1428750" y="41910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2324A"/>
                </a:solidFill>
              </a:defRPr>
            </a:pPr>
            <a:r>
              <a:rPr sz="1725" b="1">
                <a:solidFill>
                  <a:srgbClr val="12324A"/>
                </a:solidFill>
              </a:rPr>
              <a:t>Learn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66FD18-54A9-4FA0-B5CD-7FA03F59FB34}"/>
              </a:ext>
            </a:extLst>
          </p:cNvPr>
          <p:cNvSpPr>
            <a:spLocks noGrp="1"/>
          </p:cNvSpPr>
          <p:nvPr/>
        </p:nvSpPr>
        <p:spPr>
          <a:xfrm>
            <a:off x="3333750" y="4191000"/>
            <a:ext cx="790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Create easy reporting, skilled review, clear owners, feedback, and measurable system changes.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E828D8-4D21-46A5-AF3E-725CAEBCA4DB}"/>
              </a:ext>
            </a:extLst>
          </p:cNvPr>
          <p:cNvSpPr>
            <a:spLocks noGrp="1"/>
          </p:cNvSpPr>
          <p:nvPr/>
        </p:nvSpPr>
        <p:spPr>
          <a:xfrm>
            <a:off x="819150" y="4838700"/>
            <a:ext cx="19050" cy="228600"/>
          </a:xfrm>
          <a:prstGeom prst="rect">
            <a:avLst/>
          </a:prstGeom>
          <a:solidFill>
            <a:srgbClr val="BAC4C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60CF73-DC2C-4487-9ABB-6B7113A84601}"/>
              </a:ext>
            </a:extLst>
          </p:cNvPr>
          <p:cNvSpPr>
            <a:spLocks noGrp="1"/>
          </p:cNvSpPr>
          <p:nvPr/>
        </p:nvSpPr>
        <p:spPr>
          <a:xfrm>
            <a:off x="457200" y="5067300"/>
            <a:ext cx="723900" cy="647700"/>
          </a:xfrm>
          <a:prstGeom prst="rect">
            <a:avLst/>
          </a:prstGeom>
          <a:solidFill>
            <a:srgbClr val="2980B9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CE711D-8251-4DC4-A34A-6B85477836DB}"/>
              </a:ext>
            </a:extLst>
          </p:cNvPr>
          <p:cNvSpPr>
            <a:spLocks noGrp="1"/>
          </p:cNvSpPr>
          <p:nvPr/>
        </p:nvSpPr>
        <p:spPr>
          <a:xfrm>
            <a:off x="457200" y="5162550"/>
            <a:ext cx="723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AA3DC6-CD60-4891-AF26-EAE162885989}"/>
              </a:ext>
            </a:extLst>
          </p:cNvPr>
          <p:cNvSpPr>
            <a:spLocks noGrp="1"/>
          </p:cNvSpPr>
          <p:nvPr/>
        </p:nvSpPr>
        <p:spPr>
          <a:xfrm>
            <a:off x="1428750" y="50673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2324A"/>
                </a:solidFill>
              </a:defRPr>
            </a:pPr>
            <a:r>
              <a:rPr sz="1725" b="1">
                <a:solidFill>
                  <a:srgbClr val="12324A"/>
                </a:solidFill>
              </a:rPr>
              <a:t>Monitor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306E8E-33F0-4506-ABF0-FE01B203582B}"/>
              </a:ext>
            </a:extLst>
          </p:cNvPr>
          <p:cNvSpPr>
            <a:spLocks noGrp="1"/>
          </p:cNvSpPr>
          <p:nvPr/>
        </p:nvSpPr>
        <p:spPr>
          <a:xfrm>
            <a:off x="3333750" y="5067300"/>
            <a:ext cx="790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Track trust, reporting quality, repeat events, response time, and variation between units.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24B3D0-ABBC-4ABA-9A53-9C8F062D0EE6}"/>
              </a:ext>
            </a:extLst>
          </p:cNvPr>
          <p:cNvSpPr>
            <a:spLocks noGrp="1"/>
          </p:cNvSpPr>
          <p:nvPr/>
        </p:nvSpPr>
        <p:spPr>
          <a:xfrm>
            <a:off x="457200" y="5981700"/>
            <a:ext cx="1076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2324A"/>
                </a:solidFill>
              </a:defRPr>
            </a:pPr>
            <a:r>
              <a:rPr sz="1500" b="1">
                <a:solidFill>
                  <a:srgbClr val="12324A"/>
                </a:solidFill>
              </a:rPr>
              <a:t>Start with one unit, review real cases together, then scale what proves fair and workable.</a:t>
            </a:r>
          </a:p>
        </p:txBody>
      </p:sp>
    </p:spTree>
    <p:extLst>
      <p:ext uri="{BB962C8B-B14F-4D97-AF65-F5344CB8AC3E}">
        <p14:creationId xmlns:p14="http://schemas.microsoft.com/office/powerpoint/2010/main" val="594445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5F0872-F520-4268-A4F1-2B8F02012F80}"/>
              </a:ext>
            </a:extLst>
          </p:cNvPr>
          <p:cNvSpPr>
            <a:spLocks noGrp="1"/>
          </p:cNvSpPr>
          <p:nvPr/>
        </p:nvSpPr>
        <p:spPr>
          <a:xfrm>
            <a:off x="457200" y="1088517"/>
            <a:ext cx="11144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lang="en-US" sz="2700" b="1" dirty="0">
                <a:solidFill>
                  <a:srgbClr val="111827"/>
                </a:solidFill>
              </a:rPr>
              <a:t>REFERENCES </a:t>
            </a:r>
            <a:endParaRPr sz="2700" b="1" dirty="0">
              <a:solidFill>
                <a:srgbClr val="111827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42BCA7-0EED-475A-8D34-A9A912B35182}"/>
              </a:ext>
            </a:extLst>
          </p:cNvPr>
          <p:cNvSpPr>
            <a:spLocks noGrp="1"/>
          </p:cNvSpPr>
          <p:nvPr/>
        </p:nvSpPr>
        <p:spPr>
          <a:xfrm>
            <a:off x="457200" y="1751457"/>
            <a:ext cx="112776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8B744C-D562-48EC-9DA4-7386B252D729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5B6472"/>
                </a:solidFill>
              </a:defRPr>
            </a:pPr>
            <a:r>
              <a:rPr sz="825" b="1">
                <a:solidFill>
                  <a:srgbClr val="5B6472"/>
                </a:solidFill>
              </a:rPr>
              <a:t>09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6F1398-7C91-4A3C-89C0-BD7219E7E845}"/>
              </a:ext>
            </a:extLst>
          </p:cNvPr>
          <p:cNvSpPr>
            <a:spLocks noGrp="1"/>
          </p:cNvSpPr>
          <p:nvPr/>
        </p:nvSpPr>
        <p:spPr>
          <a:xfrm>
            <a:off x="658368" y="2510409"/>
            <a:ext cx="9743313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111827"/>
                </a:solidFill>
              </a:defRPr>
            </a:pPr>
            <a:r>
              <a:rPr lang="en-US" sz="975" b="0" dirty="0">
                <a:solidFill>
                  <a:srgbClr val="111827"/>
                </a:solidFill>
              </a:rPr>
              <a:t>2. </a:t>
            </a:r>
            <a:r>
              <a:rPr sz="975" b="0" dirty="0">
                <a:solidFill>
                  <a:srgbClr val="111827"/>
                </a:solidFill>
              </a:rPr>
              <a:t>Murray, J. S., Lee, J., Larson, S., et al. (2023). Requirements for implementing a “just culture” within healthcare </a:t>
            </a:r>
            <a:r>
              <a:rPr sz="975" b="0" dirty="0" err="1">
                <a:solidFill>
                  <a:srgbClr val="111827"/>
                </a:solidFill>
              </a:rPr>
              <a:t>organisations</a:t>
            </a:r>
            <a:r>
              <a:rPr sz="975" b="0" dirty="0">
                <a:solidFill>
                  <a:srgbClr val="111827"/>
                </a:solidFill>
              </a:rPr>
              <a:t>: An integrative review. BMJ Open Quality, 12, e002237. https://doi.org/10.1136/bmjoq-2022-002237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5856A-D002-4B75-BE43-5C7CB95AC03A}"/>
              </a:ext>
            </a:extLst>
          </p:cNvPr>
          <p:cNvSpPr>
            <a:spLocks noGrp="1"/>
          </p:cNvSpPr>
          <p:nvPr/>
        </p:nvSpPr>
        <p:spPr>
          <a:xfrm>
            <a:off x="658367" y="3547491"/>
            <a:ext cx="9743313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111827"/>
                </a:solidFill>
              </a:defRPr>
            </a:pPr>
            <a:r>
              <a:rPr lang="en-US" sz="975" b="0" dirty="0">
                <a:solidFill>
                  <a:srgbClr val="111827"/>
                </a:solidFill>
              </a:rPr>
              <a:t>4. </a:t>
            </a:r>
            <a:r>
              <a:rPr sz="975" b="0" dirty="0">
                <a:solidFill>
                  <a:srgbClr val="111827"/>
                </a:solidFill>
              </a:rPr>
              <a:t>van Marum, S., Verhoeven, D., &amp; de Rooy, D. (2022). Barriers and enhancers to trust in a just culture in hospital settings: A systematic review. Journal of Patient Safety, 18(7), e1067–e1075. https://doi.org/10.1097/PTS.0000000000001012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0BF736-AB5E-4A03-9497-84EB81AE96EC}"/>
              </a:ext>
            </a:extLst>
          </p:cNvPr>
          <p:cNvSpPr>
            <a:spLocks noGrp="1"/>
          </p:cNvSpPr>
          <p:nvPr/>
        </p:nvSpPr>
        <p:spPr>
          <a:xfrm>
            <a:off x="658368" y="3015234"/>
            <a:ext cx="9208008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111827"/>
                </a:solidFill>
              </a:defRPr>
            </a:pPr>
            <a:r>
              <a:rPr lang="en-US" sz="975" b="0" dirty="0">
                <a:solidFill>
                  <a:srgbClr val="111827"/>
                </a:solidFill>
              </a:rPr>
              <a:t>3. </a:t>
            </a:r>
            <a:r>
              <a:rPr sz="975" b="0" dirty="0">
                <a:solidFill>
                  <a:srgbClr val="111827"/>
                </a:solidFill>
              </a:rPr>
              <a:t>Agency for Healthcare Research and Quality. Culture of Safety. </a:t>
            </a:r>
            <a:r>
              <a:rPr sz="975" b="0" dirty="0" err="1">
                <a:solidFill>
                  <a:srgbClr val="111827"/>
                </a:solidFill>
              </a:rPr>
              <a:t>PSNet</a:t>
            </a:r>
            <a:r>
              <a:rPr sz="975" b="0" dirty="0">
                <a:solidFill>
                  <a:srgbClr val="111827"/>
                </a:solidFill>
              </a:rPr>
              <a:t>. https://psnet.ahrq.gov/primer/culture-safety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CC6622-5BFE-4458-88D9-64F5358FB921}"/>
              </a:ext>
            </a:extLst>
          </p:cNvPr>
          <p:cNvSpPr>
            <a:spLocks noGrp="1"/>
          </p:cNvSpPr>
          <p:nvPr/>
        </p:nvSpPr>
        <p:spPr>
          <a:xfrm>
            <a:off x="658366" y="4280916"/>
            <a:ext cx="9564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111827"/>
                </a:solidFill>
              </a:defRPr>
            </a:pPr>
            <a:r>
              <a:rPr lang="en-US" sz="975" b="0" dirty="0">
                <a:solidFill>
                  <a:srgbClr val="111827"/>
                </a:solidFill>
              </a:rPr>
              <a:t>5. </a:t>
            </a:r>
            <a:r>
              <a:rPr sz="975" b="0" dirty="0">
                <a:solidFill>
                  <a:srgbClr val="111827"/>
                </a:solidFill>
              </a:rPr>
              <a:t>Agency for Healthcare Research and Quality. Making Just Culture a Reality: One Organization’s Approach. https://psnet.ahrq.gov/perspective/making-just-culture-reality-one-organizations-approach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AFCA32-7FED-4377-B999-128D12E87674}"/>
              </a:ext>
            </a:extLst>
          </p:cNvPr>
          <p:cNvSpPr>
            <a:spLocks noGrp="1"/>
          </p:cNvSpPr>
          <p:nvPr/>
        </p:nvSpPr>
        <p:spPr>
          <a:xfrm>
            <a:off x="658366" y="1865757"/>
            <a:ext cx="9134856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111827"/>
                </a:solidFill>
              </a:defRPr>
            </a:pPr>
            <a:r>
              <a:rPr lang="en-US" sz="975" b="0" dirty="0">
                <a:solidFill>
                  <a:srgbClr val="111827"/>
                </a:solidFill>
              </a:rPr>
              <a:t>1. </a:t>
            </a:r>
            <a:r>
              <a:rPr sz="975" b="0" dirty="0">
                <a:solidFill>
                  <a:srgbClr val="111827"/>
                </a:solidFill>
              </a:rPr>
              <a:t>NHS England. (2023). Improving patient safety culture: A practical guide. https://www.england.nhs.uk/long-read/improving-patient-safety-culture-a-practical-guide/</a:t>
            </a:r>
          </a:p>
        </p:txBody>
      </p:sp>
    </p:spTree>
    <p:extLst>
      <p:ext uri="{BB962C8B-B14F-4D97-AF65-F5344CB8AC3E}">
        <p14:creationId xmlns:p14="http://schemas.microsoft.com/office/powerpoint/2010/main" val="5457896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1042</Words>
  <Application>Microsoft Office PowerPoint</Application>
  <DocSecurity>0</DocSecurity>
  <PresentationFormat>Widescreen</PresentationFormat>
  <Paragraphs>143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Gisella Adair Murcia</cp:lastModifiedBy>
  <cp:revision>1</cp:revision>
  <dcterms:created xsi:type="dcterms:W3CDTF">2026-07-19T17:28:35Z</dcterms:created>
  <dcterms:modified xsi:type="dcterms:W3CDTF">2026-07-20T02:28:53Z</dcterms:modified>
</cp:coreProperties>
</file>